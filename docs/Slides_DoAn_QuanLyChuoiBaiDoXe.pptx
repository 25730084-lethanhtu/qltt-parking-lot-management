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snapToObjects="1">
      <p:cViewPr>
        <p:scale>
          <a:sx n="97" d="100"/>
          <a:sy n="97" d="100"/>
        </p:scale>
        <p:origin x="1704" y="6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728655" cy="482183"/>
          </a:xfrm>
          <a:prstGeom prst="rect">
            <a:avLst/>
          </a:prstGeom>
          <a:noFill/>
        </p:spPr>
        <p:txBody>
          <a:bodyPr wrap="square" lIns="0" tIns="0" rIns="0" bIns="0">
            <a:spAutoFit/>
          </a:bodyPr>
          <a:lstStyle/>
          <a:p>
            <a:pPr algn="ctr">
              <a:spcAft>
                <a:spcPts val="400"/>
              </a:spcAft>
              <a:defRPr sz="1500" b="1">
                <a:solidFill>
                  <a:srgbClr val="38BDF8"/>
                </a:solidFill>
                <a:latin typeface="Arial"/>
              </a:defRPr>
            </a:pPr>
            <a:r>
              <a:rPr dirty="0"/>
              <a:t>TRƯỜNG ĐẠI HỌC CÔNG NGHỆ THÔNG TIN — ĐHQG TP.HCM</a:t>
            </a:r>
          </a:p>
          <a:p>
            <a:pPr algn="ctr">
              <a:defRPr sz="1300">
                <a:solidFill>
                  <a:srgbClr val="94A3B8"/>
                </a:solidFill>
                <a:latin typeface="Arial"/>
              </a:defRPr>
            </a:pPr>
            <a:r>
              <a:rPr dirty="0">
                <a:solidFill>
                  <a:schemeClr val="bg1"/>
                </a:solidFill>
              </a:rPr>
              <a:t>BÁO CÁO ĐỒ ÁN MÔN HỌC: QUẢN LÝ THÔNG TIN (IE103.F31.CN1.CNTT)</a:t>
            </a:r>
          </a:p>
        </p:txBody>
      </p:sp>
      <p:sp>
        <p:nvSpPr>
          <p:cNvPr id="3" name="Rounded Rectangle 2"/>
          <p:cNvSpPr/>
          <p:nvPr/>
        </p:nvSpPr>
        <p:spPr>
          <a:xfrm>
            <a:off x="731520" y="1463040"/>
            <a:ext cx="10728655" cy="2103120"/>
          </a:xfrm>
          <a:prstGeom prst="roundRect">
            <a:avLst>
              <a:gd name="adj" fmla="val 150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800"/>
              </a:spcAft>
              <a:defRPr sz="2800" b="1">
                <a:solidFill>
                  <a:srgbClr val="FFFFFF"/>
                </a:solidFill>
                <a:latin typeface="Arial"/>
              </a:defRPr>
            </a:pPr>
            <a:r>
              <a:rPr dirty="0"/>
              <a:t>ĐỀ TÀI: HỆ THỐNG QUẢN LÝ CHUỖI BÃI ĐỖ XE</a:t>
            </a:r>
          </a:p>
        </p:txBody>
      </p:sp>
      <p:sp>
        <p:nvSpPr>
          <p:cNvPr id="4" name="Rounded Rectangle 3"/>
          <p:cNvSpPr/>
          <p:nvPr/>
        </p:nvSpPr>
        <p:spPr>
          <a:xfrm>
            <a:off x="731520" y="3840480"/>
            <a:ext cx="5180990" cy="2011680"/>
          </a:xfrm>
          <a:prstGeom prst="roundRect">
            <a:avLst>
              <a:gd name="adj" fmla="val 200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4023360"/>
            <a:ext cx="4632350" cy="600164"/>
          </a:xfrm>
          <a:prstGeom prst="rect">
            <a:avLst/>
          </a:prstGeom>
          <a:noFill/>
        </p:spPr>
        <p:txBody>
          <a:bodyPr wrap="square" lIns="0" tIns="0" rIns="0" bIns="0">
            <a:spAutoFit/>
          </a:bodyPr>
          <a:lstStyle/>
          <a:p>
            <a:pPr>
              <a:spcAft>
                <a:spcPts val="600"/>
              </a:spcAft>
              <a:defRPr sz="1200" b="1">
                <a:solidFill>
                  <a:srgbClr val="38BDF8"/>
                </a:solidFill>
                <a:latin typeface="Arial"/>
              </a:defRPr>
            </a:pPr>
            <a:r>
              <a:rPr dirty="0"/>
              <a:t>THỰC HIỆN</a:t>
            </a:r>
          </a:p>
          <a:p>
            <a:pPr>
              <a:spcAft>
                <a:spcPts val="400"/>
              </a:spcAft>
              <a:defRPr sz="2200" b="1">
                <a:solidFill>
                  <a:srgbClr val="FFFFFF"/>
                </a:solidFill>
                <a:latin typeface="Arial"/>
              </a:defRPr>
            </a:pPr>
            <a:r>
              <a:rPr dirty="0"/>
              <a:t>NHÓM 4</a:t>
            </a:r>
          </a:p>
        </p:txBody>
      </p:sp>
      <p:sp>
        <p:nvSpPr>
          <p:cNvPr id="6" name="Rounded Rectangle 5"/>
          <p:cNvSpPr/>
          <p:nvPr/>
        </p:nvSpPr>
        <p:spPr>
          <a:xfrm>
            <a:off x="6278270" y="3840480"/>
            <a:ext cx="5180990" cy="2011680"/>
          </a:xfrm>
          <a:prstGeom prst="roundRect">
            <a:avLst>
              <a:gd name="adj" fmla="val 200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52590" y="4023360"/>
            <a:ext cx="4632350" cy="600164"/>
          </a:xfrm>
          <a:prstGeom prst="rect">
            <a:avLst/>
          </a:prstGeom>
          <a:noFill/>
        </p:spPr>
        <p:txBody>
          <a:bodyPr wrap="square" lIns="0" tIns="0" rIns="0" bIns="0">
            <a:spAutoFit/>
          </a:bodyPr>
          <a:lstStyle/>
          <a:p>
            <a:pPr>
              <a:spcAft>
                <a:spcPts val="600"/>
              </a:spcAft>
              <a:defRPr sz="1200" b="1">
                <a:solidFill>
                  <a:srgbClr val="38BDF8"/>
                </a:solidFill>
                <a:latin typeface="Arial"/>
              </a:defRPr>
            </a:pPr>
            <a:r>
              <a:rPr dirty="0"/>
              <a:t>GIẢNG VIÊN HƯỚNG DẪN</a:t>
            </a:r>
          </a:p>
          <a:p>
            <a:pPr>
              <a:spcAft>
                <a:spcPts val="400"/>
              </a:spcAft>
              <a:defRPr sz="2200" b="1">
                <a:solidFill>
                  <a:srgbClr val="FFFFFF"/>
                </a:solidFill>
                <a:latin typeface="Arial"/>
              </a:defRPr>
            </a:pPr>
            <a:r>
              <a:rPr dirty="0"/>
              <a:t>NGUYỄN THANH LUÂN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400"/>
              </a:spcAft>
              <a:defRPr sz="2200" b="1">
                <a:solidFill>
                  <a:srgbClr val="0F172A"/>
                </a:solidFill>
                <a:latin typeface="Arial"/>
              </a:defRPr>
            </a:pPr>
            <a:r>
              <a:t>THÀNH VIÊN DỰ ÁN — NHÓM 4</a:t>
            </a:r>
          </a:p>
          <a:p>
            <a:pPr>
              <a:defRPr sz="1300">
                <a:solidFill>
                  <a:srgbClr val="475569"/>
                </a:solidFill>
                <a:latin typeface="Arial"/>
              </a:defRPr>
            </a:pPr>
            <a:r>
              <a:t>Danh Sách 10 Thành Viên Tham Gia Xây Dựng &amp; Thực Hiện Đồ Án Quản Lý Thông Tin</a:t>
            </a:r>
          </a:p>
        </p:txBody>
      </p:sp>
      <p:sp>
        <p:nvSpPr>
          <p:cNvPr id="3" name="Rounded Rectangle 2"/>
          <p:cNvSpPr/>
          <p:nvPr/>
        </p:nvSpPr>
        <p:spPr>
          <a:xfrm>
            <a:off x="731520" y="1371600"/>
            <a:ext cx="1993392" cy="21488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371600"/>
            <a:ext cx="1993392" cy="384048"/>
          </a:xfrm>
          <a:prstGeom prst="roundRect">
            <a:avLst>
              <a:gd name="adj" fmla="val 3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100" b="1">
                <a:solidFill>
                  <a:srgbClr val="FFFFFF"/>
                </a:solidFill>
                <a:latin typeface="Arial"/>
              </a:defRPr>
            </a:pPr>
            <a:r>
              <a:t>THÀNH VIÊN 01</a:t>
            </a:r>
          </a:p>
        </p:txBody>
      </p:sp>
      <p:sp>
        <p:nvSpPr>
          <p:cNvPr id="5" name="TextBox 4"/>
          <p:cNvSpPr txBox="1"/>
          <p:nvPr/>
        </p:nvSpPr>
        <p:spPr>
          <a:xfrm>
            <a:off x="841248" y="1874520"/>
            <a:ext cx="1773936" cy="1554480"/>
          </a:xfrm>
          <a:prstGeom prst="rect">
            <a:avLst/>
          </a:prstGeom>
          <a:noFill/>
        </p:spPr>
        <p:txBody>
          <a:bodyPr wrap="square" lIns="0" tIns="0" rIns="0" bIns="0">
            <a:spAutoFit/>
          </a:bodyPr>
          <a:lstStyle/>
          <a:p>
            <a:pPr>
              <a:spcAft>
                <a:spcPts val="600"/>
              </a:spcAft>
              <a:defRPr sz="1200" b="1">
                <a:solidFill>
                  <a:srgbClr val="0284C7"/>
                </a:solidFill>
                <a:latin typeface="Arial"/>
              </a:defRPr>
            </a:pPr>
            <a:r>
              <a:t>MSSV: 25730083</a:t>
            </a:r>
          </a:p>
          <a:p>
            <a:pPr>
              <a:defRPr sz="1300" b="1">
                <a:solidFill>
                  <a:srgbClr val="0F172A"/>
                </a:solidFill>
                <a:latin typeface="Arial"/>
              </a:defRPr>
            </a:pPr>
            <a:r>
              <a:t>Ngô Võ Xuân Trường</a:t>
            </a:r>
          </a:p>
        </p:txBody>
      </p:sp>
      <p:sp>
        <p:nvSpPr>
          <p:cNvPr id="6" name="Rounded Rectangle 5"/>
          <p:cNvSpPr/>
          <p:nvPr/>
        </p:nvSpPr>
        <p:spPr>
          <a:xfrm>
            <a:off x="2907792" y="1371600"/>
            <a:ext cx="1993392" cy="21488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907792" y="1371600"/>
            <a:ext cx="1993392" cy="384048"/>
          </a:xfrm>
          <a:prstGeom prst="roundRect">
            <a:avLst>
              <a:gd name="adj" fmla="val 3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100" b="1">
                <a:solidFill>
                  <a:srgbClr val="FFFFFF"/>
                </a:solidFill>
                <a:latin typeface="Arial"/>
              </a:defRPr>
            </a:pPr>
            <a:r>
              <a:t>THÀNH VIÊN 02</a:t>
            </a:r>
          </a:p>
        </p:txBody>
      </p:sp>
      <p:sp>
        <p:nvSpPr>
          <p:cNvPr id="8" name="TextBox 7"/>
          <p:cNvSpPr txBox="1"/>
          <p:nvPr/>
        </p:nvSpPr>
        <p:spPr>
          <a:xfrm>
            <a:off x="3017520" y="1874520"/>
            <a:ext cx="1773936" cy="1554480"/>
          </a:xfrm>
          <a:prstGeom prst="rect">
            <a:avLst/>
          </a:prstGeom>
          <a:noFill/>
        </p:spPr>
        <p:txBody>
          <a:bodyPr wrap="square" lIns="0" tIns="0" rIns="0" bIns="0">
            <a:spAutoFit/>
          </a:bodyPr>
          <a:lstStyle/>
          <a:p>
            <a:pPr>
              <a:spcAft>
                <a:spcPts val="600"/>
              </a:spcAft>
              <a:defRPr sz="1200" b="1">
                <a:solidFill>
                  <a:srgbClr val="0284C7"/>
                </a:solidFill>
                <a:latin typeface="Arial"/>
              </a:defRPr>
            </a:pPr>
            <a:r>
              <a:t>MSSV: 25730084</a:t>
            </a:r>
          </a:p>
          <a:p>
            <a:pPr>
              <a:defRPr sz="1300" b="1">
                <a:solidFill>
                  <a:srgbClr val="0F172A"/>
                </a:solidFill>
                <a:latin typeface="Arial"/>
              </a:defRPr>
            </a:pPr>
            <a:r>
              <a:t>Lê Thanh Tú</a:t>
            </a:r>
          </a:p>
        </p:txBody>
      </p:sp>
      <p:sp>
        <p:nvSpPr>
          <p:cNvPr id="9" name="Rounded Rectangle 8"/>
          <p:cNvSpPr/>
          <p:nvPr/>
        </p:nvSpPr>
        <p:spPr>
          <a:xfrm>
            <a:off x="5084064" y="1371600"/>
            <a:ext cx="1993392" cy="21488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084064" y="1371600"/>
            <a:ext cx="1993392" cy="384048"/>
          </a:xfrm>
          <a:prstGeom prst="roundRect">
            <a:avLst>
              <a:gd name="adj" fmla="val 3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100" b="1">
                <a:solidFill>
                  <a:srgbClr val="FFFFFF"/>
                </a:solidFill>
                <a:latin typeface="Arial"/>
              </a:defRPr>
            </a:pPr>
            <a:r>
              <a:t>THÀNH VIÊN 03</a:t>
            </a:r>
          </a:p>
        </p:txBody>
      </p:sp>
      <p:sp>
        <p:nvSpPr>
          <p:cNvPr id="11" name="TextBox 10"/>
          <p:cNvSpPr txBox="1"/>
          <p:nvPr/>
        </p:nvSpPr>
        <p:spPr>
          <a:xfrm>
            <a:off x="5193792" y="1874520"/>
            <a:ext cx="1773936" cy="1554480"/>
          </a:xfrm>
          <a:prstGeom prst="rect">
            <a:avLst/>
          </a:prstGeom>
          <a:noFill/>
        </p:spPr>
        <p:txBody>
          <a:bodyPr wrap="square" lIns="0" tIns="0" rIns="0" bIns="0">
            <a:spAutoFit/>
          </a:bodyPr>
          <a:lstStyle/>
          <a:p>
            <a:pPr>
              <a:spcAft>
                <a:spcPts val="600"/>
              </a:spcAft>
              <a:defRPr sz="1200" b="1">
                <a:solidFill>
                  <a:srgbClr val="0284C7"/>
                </a:solidFill>
                <a:latin typeface="Arial"/>
              </a:defRPr>
            </a:pPr>
            <a:r>
              <a:t>MSSV: 25730085</a:t>
            </a:r>
          </a:p>
          <a:p>
            <a:pPr>
              <a:defRPr sz="1300" b="1">
                <a:solidFill>
                  <a:srgbClr val="0F172A"/>
                </a:solidFill>
                <a:latin typeface="Arial"/>
              </a:defRPr>
            </a:pPr>
            <a:r>
              <a:t>Nguyễn Văn Anh Tú</a:t>
            </a:r>
          </a:p>
        </p:txBody>
      </p:sp>
      <p:sp>
        <p:nvSpPr>
          <p:cNvPr id="12" name="Rounded Rectangle 11"/>
          <p:cNvSpPr/>
          <p:nvPr/>
        </p:nvSpPr>
        <p:spPr>
          <a:xfrm>
            <a:off x="7260336" y="1371600"/>
            <a:ext cx="1993392" cy="21488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260336" y="1371600"/>
            <a:ext cx="1993392" cy="384048"/>
          </a:xfrm>
          <a:prstGeom prst="roundRect">
            <a:avLst>
              <a:gd name="adj" fmla="val 3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100" b="1">
                <a:solidFill>
                  <a:srgbClr val="FFFFFF"/>
                </a:solidFill>
                <a:latin typeface="Arial"/>
              </a:defRPr>
            </a:pPr>
            <a:r>
              <a:t>THÀNH VIÊN 04</a:t>
            </a:r>
          </a:p>
        </p:txBody>
      </p:sp>
      <p:sp>
        <p:nvSpPr>
          <p:cNvPr id="14" name="TextBox 13"/>
          <p:cNvSpPr txBox="1"/>
          <p:nvPr/>
        </p:nvSpPr>
        <p:spPr>
          <a:xfrm>
            <a:off x="7370064" y="1874520"/>
            <a:ext cx="1773936" cy="1554480"/>
          </a:xfrm>
          <a:prstGeom prst="rect">
            <a:avLst/>
          </a:prstGeom>
          <a:noFill/>
        </p:spPr>
        <p:txBody>
          <a:bodyPr wrap="square" lIns="0" tIns="0" rIns="0" bIns="0">
            <a:spAutoFit/>
          </a:bodyPr>
          <a:lstStyle/>
          <a:p>
            <a:pPr>
              <a:spcAft>
                <a:spcPts val="600"/>
              </a:spcAft>
              <a:defRPr sz="1200" b="1">
                <a:solidFill>
                  <a:srgbClr val="0284C7"/>
                </a:solidFill>
                <a:latin typeface="Arial"/>
              </a:defRPr>
            </a:pPr>
            <a:r>
              <a:t>MSSV: 25730078</a:t>
            </a:r>
          </a:p>
          <a:p>
            <a:pPr>
              <a:defRPr sz="1300" b="1">
                <a:solidFill>
                  <a:srgbClr val="0F172A"/>
                </a:solidFill>
                <a:latin typeface="Arial"/>
              </a:defRPr>
            </a:pPr>
            <a:r>
              <a:t>Nguyễn Đông Triều</a:t>
            </a:r>
          </a:p>
        </p:txBody>
      </p:sp>
      <p:sp>
        <p:nvSpPr>
          <p:cNvPr id="15" name="Rounded Rectangle 14"/>
          <p:cNvSpPr/>
          <p:nvPr/>
        </p:nvSpPr>
        <p:spPr>
          <a:xfrm>
            <a:off x="9436608" y="1371600"/>
            <a:ext cx="1993392" cy="21488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436608" y="1371600"/>
            <a:ext cx="1993392" cy="384048"/>
          </a:xfrm>
          <a:prstGeom prst="roundRect">
            <a:avLst>
              <a:gd name="adj" fmla="val 3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100" b="1">
                <a:solidFill>
                  <a:srgbClr val="FFFFFF"/>
                </a:solidFill>
                <a:latin typeface="Arial"/>
              </a:defRPr>
            </a:pPr>
            <a:r>
              <a:t>THÀNH VIÊN 05</a:t>
            </a:r>
          </a:p>
        </p:txBody>
      </p:sp>
      <p:sp>
        <p:nvSpPr>
          <p:cNvPr id="17" name="TextBox 16"/>
          <p:cNvSpPr txBox="1"/>
          <p:nvPr/>
        </p:nvSpPr>
        <p:spPr>
          <a:xfrm>
            <a:off x="9546336" y="1874520"/>
            <a:ext cx="1773936" cy="1554480"/>
          </a:xfrm>
          <a:prstGeom prst="rect">
            <a:avLst/>
          </a:prstGeom>
          <a:noFill/>
        </p:spPr>
        <p:txBody>
          <a:bodyPr wrap="square" lIns="0" tIns="0" rIns="0" bIns="0">
            <a:spAutoFit/>
          </a:bodyPr>
          <a:lstStyle/>
          <a:p>
            <a:pPr>
              <a:spcAft>
                <a:spcPts val="600"/>
              </a:spcAft>
              <a:defRPr sz="1200" b="1">
                <a:solidFill>
                  <a:srgbClr val="0284C7"/>
                </a:solidFill>
                <a:latin typeface="Arial"/>
              </a:defRPr>
            </a:pPr>
            <a:r>
              <a:t>MSSV: 25730087</a:t>
            </a:r>
          </a:p>
          <a:p>
            <a:pPr>
              <a:defRPr sz="1300" b="1">
                <a:solidFill>
                  <a:srgbClr val="0F172A"/>
                </a:solidFill>
                <a:latin typeface="Arial"/>
              </a:defRPr>
            </a:pPr>
            <a:r>
              <a:t>Quách Anh Tuấn</a:t>
            </a:r>
          </a:p>
        </p:txBody>
      </p:sp>
      <p:sp>
        <p:nvSpPr>
          <p:cNvPr id="18" name="Rounded Rectangle 17"/>
          <p:cNvSpPr/>
          <p:nvPr/>
        </p:nvSpPr>
        <p:spPr>
          <a:xfrm>
            <a:off x="731520" y="3749040"/>
            <a:ext cx="1993392" cy="21488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31520" y="3749040"/>
            <a:ext cx="1993392" cy="384048"/>
          </a:xfrm>
          <a:prstGeom prst="roundRect">
            <a:avLst>
              <a:gd name="adj" fmla="val 3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100" b="1">
                <a:solidFill>
                  <a:srgbClr val="FFFFFF"/>
                </a:solidFill>
                <a:latin typeface="Arial"/>
              </a:defRPr>
            </a:pPr>
            <a:r>
              <a:t>THÀNH VIÊN 06</a:t>
            </a:r>
          </a:p>
        </p:txBody>
      </p:sp>
      <p:sp>
        <p:nvSpPr>
          <p:cNvPr id="20" name="TextBox 19"/>
          <p:cNvSpPr txBox="1"/>
          <p:nvPr/>
        </p:nvSpPr>
        <p:spPr>
          <a:xfrm>
            <a:off x="841248" y="4251960"/>
            <a:ext cx="1773936" cy="1554480"/>
          </a:xfrm>
          <a:prstGeom prst="rect">
            <a:avLst/>
          </a:prstGeom>
          <a:noFill/>
        </p:spPr>
        <p:txBody>
          <a:bodyPr wrap="square" lIns="0" tIns="0" rIns="0" bIns="0">
            <a:spAutoFit/>
          </a:bodyPr>
          <a:lstStyle/>
          <a:p>
            <a:pPr>
              <a:spcAft>
                <a:spcPts val="600"/>
              </a:spcAft>
              <a:defRPr sz="1200" b="1">
                <a:solidFill>
                  <a:srgbClr val="0284C7"/>
                </a:solidFill>
                <a:latin typeface="Arial"/>
              </a:defRPr>
            </a:pPr>
            <a:r>
              <a:t>MSSV: 25730082</a:t>
            </a:r>
          </a:p>
          <a:p>
            <a:pPr>
              <a:defRPr sz="1300" b="1">
                <a:solidFill>
                  <a:srgbClr val="0F172A"/>
                </a:solidFill>
                <a:latin typeface="Arial"/>
              </a:defRPr>
            </a:pPr>
            <a:r>
              <a:t>Võ Trần Trung</a:t>
            </a:r>
          </a:p>
        </p:txBody>
      </p:sp>
      <p:sp>
        <p:nvSpPr>
          <p:cNvPr id="21" name="Rounded Rectangle 20"/>
          <p:cNvSpPr/>
          <p:nvPr/>
        </p:nvSpPr>
        <p:spPr>
          <a:xfrm>
            <a:off x="2907792" y="3749040"/>
            <a:ext cx="1993392" cy="21488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2907792" y="3749040"/>
            <a:ext cx="1993392" cy="384048"/>
          </a:xfrm>
          <a:prstGeom prst="roundRect">
            <a:avLst>
              <a:gd name="adj" fmla="val 3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100" b="1">
                <a:solidFill>
                  <a:srgbClr val="FFFFFF"/>
                </a:solidFill>
                <a:latin typeface="Arial"/>
              </a:defRPr>
            </a:pPr>
            <a:r>
              <a:t>THÀNH VIÊN 07</a:t>
            </a:r>
          </a:p>
        </p:txBody>
      </p:sp>
      <p:sp>
        <p:nvSpPr>
          <p:cNvPr id="23" name="TextBox 22"/>
          <p:cNvSpPr txBox="1"/>
          <p:nvPr/>
        </p:nvSpPr>
        <p:spPr>
          <a:xfrm>
            <a:off x="3017520" y="4251960"/>
            <a:ext cx="1773936" cy="1554480"/>
          </a:xfrm>
          <a:prstGeom prst="rect">
            <a:avLst/>
          </a:prstGeom>
          <a:noFill/>
        </p:spPr>
        <p:txBody>
          <a:bodyPr wrap="square" lIns="0" tIns="0" rIns="0" bIns="0">
            <a:spAutoFit/>
          </a:bodyPr>
          <a:lstStyle/>
          <a:p>
            <a:pPr>
              <a:spcAft>
                <a:spcPts val="600"/>
              </a:spcAft>
              <a:defRPr sz="1200" b="1">
                <a:solidFill>
                  <a:srgbClr val="0284C7"/>
                </a:solidFill>
                <a:latin typeface="Arial"/>
              </a:defRPr>
            </a:pPr>
            <a:r>
              <a:t>MSSV: 24730055</a:t>
            </a:r>
          </a:p>
          <a:p>
            <a:pPr>
              <a:defRPr sz="1300" b="1">
                <a:solidFill>
                  <a:srgbClr val="0F172A"/>
                </a:solidFill>
                <a:latin typeface="Arial"/>
              </a:defRPr>
            </a:pPr>
            <a:r>
              <a:t>Đặng Hồng Phong</a:t>
            </a:r>
          </a:p>
        </p:txBody>
      </p:sp>
      <p:sp>
        <p:nvSpPr>
          <p:cNvPr id="24" name="Rounded Rectangle 23"/>
          <p:cNvSpPr/>
          <p:nvPr/>
        </p:nvSpPr>
        <p:spPr>
          <a:xfrm>
            <a:off x="5084064" y="3749040"/>
            <a:ext cx="1993392" cy="21488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084064" y="3749040"/>
            <a:ext cx="1993392" cy="384048"/>
          </a:xfrm>
          <a:prstGeom prst="roundRect">
            <a:avLst>
              <a:gd name="adj" fmla="val 3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100" b="1">
                <a:solidFill>
                  <a:srgbClr val="FFFFFF"/>
                </a:solidFill>
                <a:latin typeface="Arial"/>
              </a:defRPr>
            </a:pPr>
            <a:r>
              <a:t>THÀNH VIÊN 08</a:t>
            </a:r>
          </a:p>
        </p:txBody>
      </p:sp>
      <p:sp>
        <p:nvSpPr>
          <p:cNvPr id="26" name="TextBox 25"/>
          <p:cNvSpPr txBox="1"/>
          <p:nvPr/>
        </p:nvSpPr>
        <p:spPr>
          <a:xfrm>
            <a:off x="5193792" y="4251960"/>
            <a:ext cx="1773936" cy="1554480"/>
          </a:xfrm>
          <a:prstGeom prst="rect">
            <a:avLst/>
          </a:prstGeom>
          <a:noFill/>
        </p:spPr>
        <p:txBody>
          <a:bodyPr wrap="square" lIns="0" tIns="0" rIns="0" bIns="0">
            <a:spAutoFit/>
          </a:bodyPr>
          <a:lstStyle/>
          <a:p>
            <a:pPr>
              <a:spcAft>
                <a:spcPts val="600"/>
              </a:spcAft>
              <a:defRPr sz="1200" b="1">
                <a:solidFill>
                  <a:srgbClr val="0284C7"/>
                </a:solidFill>
                <a:latin typeface="Arial"/>
              </a:defRPr>
            </a:pPr>
            <a:r>
              <a:t>MSSV: 25730095</a:t>
            </a:r>
          </a:p>
          <a:p>
            <a:pPr>
              <a:defRPr sz="1300" b="1">
                <a:solidFill>
                  <a:srgbClr val="0F172A"/>
                </a:solidFill>
                <a:latin typeface="Arial"/>
              </a:defRPr>
            </a:pPr>
            <a:r>
              <a:t>Nguyễn Đăng Khôi</a:t>
            </a:r>
          </a:p>
        </p:txBody>
      </p:sp>
      <p:sp>
        <p:nvSpPr>
          <p:cNvPr id="27" name="Rounded Rectangle 26"/>
          <p:cNvSpPr/>
          <p:nvPr/>
        </p:nvSpPr>
        <p:spPr>
          <a:xfrm>
            <a:off x="7260336" y="3749040"/>
            <a:ext cx="1993392" cy="21488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260336" y="3749040"/>
            <a:ext cx="1993392" cy="384048"/>
          </a:xfrm>
          <a:prstGeom prst="roundRect">
            <a:avLst>
              <a:gd name="adj" fmla="val 3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100" b="1">
                <a:solidFill>
                  <a:srgbClr val="FFFFFF"/>
                </a:solidFill>
                <a:latin typeface="Arial"/>
              </a:defRPr>
            </a:pPr>
            <a:r>
              <a:t>THÀNH VIÊN 09</a:t>
            </a:r>
          </a:p>
        </p:txBody>
      </p:sp>
      <p:sp>
        <p:nvSpPr>
          <p:cNvPr id="29" name="TextBox 28"/>
          <p:cNvSpPr txBox="1"/>
          <p:nvPr/>
        </p:nvSpPr>
        <p:spPr>
          <a:xfrm>
            <a:off x="7370064" y="4251960"/>
            <a:ext cx="1773936" cy="1554480"/>
          </a:xfrm>
          <a:prstGeom prst="rect">
            <a:avLst/>
          </a:prstGeom>
          <a:noFill/>
        </p:spPr>
        <p:txBody>
          <a:bodyPr wrap="square" lIns="0" tIns="0" rIns="0" bIns="0">
            <a:spAutoFit/>
          </a:bodyPr>
          <a:lstStyle/>
          <a:p>
            <a:pPr>
              <a:spcAft>
                <a:spcPts val="600"/>
              </a:spcAft>
              <a:defRPr sz="1200" b="1">
                <a:solidFill>
                  <a:srgbClr val="0284C7"/>
                </a:solidFill>
                <a:latin typeface="Arial"/>
              </a:defRPr>
            </a:pPr>
            <a:r>
              <a:t>MSSV: 23210291</a:t>
            </a:r>
          </a:p>
          <a:p>
            <a:pPr>
              <a:defRPr sz="1300" b="1">
                <a:solidFill>
                  <a:srgbClr val="0F172A"/>
                </a:solidFill>
                <a:latin typeface="Arial"/>
              </a:defRPr>
            </a:pPr>
            <a:r>
              <a:t>Trần Thủy Tiên</a:t>
            </a:r>
          </a:p>
        </p:txBody>
      </p:sp>
      <p:sp>
        <p:nvSpPr>
          <p:cNvPr id="30" name="Rounded Rectangle 29"/>
          <p:cNvSpPr/>
          <p:nvPr/>
        </p:nvSpPr>
        <p:spPr>
          <a:xfrm>
            <a:off x="9436608" y="3749040"/>
            <a:ext cx="1993392" cy="21488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9436608" y="3749040"/>
            <a:ext cx="1993392" cy="384048"/>
          </a:xfrm>
          <a:prstGeom prst="roundRect">
            <a:avLst>
              <a:gd name="adj" fmla="val 3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100" b="1">
                <a:solidFill>
                  <a:srgbClr val="FFFFFF"/>
                </a:solidFill>
                <a:latin typeface="Arial"/>
              </a:defRPr>
            </a:pPr>
            <a:r>
              <a:t>THÀNH VIÊN 10</a:t>
            </a:r>
          </a:p>
        </p:txBody>
      </p:sp>
      <p:sp>
        <p:nvSpPr>
          <p:cNvPr id="32" name="TextBox 31"/>
          <p:cNvSpPr txBox="1"/>
          <p:nvPr/>
        </p:nvSpPr>
        <p:spPr>
          <a:xfrm>
            <a:off x="9546336" y="4251960"/>
            <a:ext cx="1773936" cy="1554480"/>
          </a:xfrm>
          <a:prstGeom prst="rect">
            <a:avLst/>
          </a:prstGeom>
          <a:noFill/>
        </p:spPr>
        <p:txBody>
          <a:bodyPr wrap="square" lIns="0" tIns="0" rIns="0" bIns="0">
            <a:spAutoFit/>
          </a:bodyPr>
          <a:lstStyle/>
          <a:p>
            <a:pPr>
              <a:spcAft>
                <a:spcPts val="600"/>
              </a:spcAft>
              <a:defRPr sz="1200" b="1">
                <a:solidFill>
                  <a:srgbClr val="0284C7"/>
                </a:solidFill>
                <a:latin typeface="Arial"/>
              </a:defRPr>
            </a:pPr>
            <a:r>
              <a:t>MSSV: 25410122</a:t>
            </a:r>
          </a:p>
          <a:p>
            <a:pPr>
              <a:defRPr sz="1300" b="1">
                <a:solidFill>
                  <a:srgbClr val="0F172A"/>
                </a:solidFill>
                <a:latin typeface="Arial"/>
              </a:defRPr>
            </a:pPr>
            <a:r>
              <a:t>Trần Phi Sơn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400"/>
              </a:spcAft>
              <a:defRPr sz="2200" b="1">
                <a:solidFill>
                  <a:srgbClr val="0F172A"/>
                </a:solidFill>
                <a:latin typeface="Arial"/>
              </a:defRPr>
            </a:pPr>
            <a:r>
              <a:t>BÀI TOÁN VẬN HÀNH</a:t>
            </a:r>
          </a:p>
          <a:p>
            <a:pPr>
              <a:defRPr sz="1300">
                <a:solidFill>
                  <a:srgbClr val="475569"/>
                </a:solidFill>
                <a:latin typeface="Arial"/>
              </a:defRPr>
            </a:pPr>
            <a:r>
              <a:t>Phát Biểu Bài Toán Quản Lý Chuỗi Bãi Đỗ Xe Đô Thị (Mở Rộng N Chi Nhánh)</a:t>
            </a:r>
          </a:p>
        </p:txBody>
      </p:sp>
      <p:sp>
        <p:nvSpPr>
          <p:cNvPr id="3" name="Rounded Rectangle 2"/>
          <p:cNvSpPr/>
          <p:nvPr/>
        </p:nvSpPr>
        <p:spPr>
          <a:xfrm>
            <a:off x="731520" y="1371600"/>
            <a:ext cx="5180990" cy="484632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1600200"/>
            <a:ext cx="4723790" cy="2846933"/>
          </a:xfrm>
          <a:prstGeom prst="rect">
            <a:avLst/>
          </a:prstGeom>
          <a:noFill/>
        </p:spPr>
        <p:txBody>
          <a:bodyPr wrap="square" lIns="0" tIns="0" rIns="0" bIns="0">
            <a:spAutoFit/>
          </a:bodyPr>
          <a:lstStyle/>
          <a:p>
            <a:pPr>
              <a:spcAft>
                <a:spcPts val="1000"/>
              </a:spcAft>
              <a:defRPr sz="1500" b="1">
                <a:solidFill>
                  <a:srgbClr val="0284C7"/>
                </a:solidFill>
                <a:latin typeface="Arial"/>
              </a:defRPr>
            </a:pPr>
            <a:r>
              <a:rPr dirty="0"/>
              <a:t>🌐 </a:t>
            </a:r>
            <a:r>
              <a:rPr dirty="0" err="1"/>
              <a:t>Mô</a:t>
            </a:r>
            <a:r>
              <a:rPr dirty="0"/>
              <a:t> Hình Quản Lý Chuỗi </a:t>
            </a:r>
            <a:r>
              <a:rPr dirty="0" err="1"/>
              <a:t>Đa</a:t>
            </a:r>
            <a:r>
              <a:rPr dirty="0"/>
              <a:t> Chi </a:t>
            </a:r>
            <a:r>
              <a:rPr dirty="0" err="1"/>
              <a:t>Nhánh</a:t>
            </a:r>
            <a:r>
              <a:rPr dirty="0"/>
              <a:t> (</a:t>
            </a:r>
            <a:r>
              <a:rPr dirty="0" err="1"/>
              <a:t>Mở</a:t>
            </a:r>
            <a:r>
              <a:rPr dirty="0"/>
              <a:t> </a:t>
            </a:r>
            <a:r>
              <a:rPr dirty="0" err="1"/>
              <a:t>Rộng</a:t>
            </a:r>
            <a:r>
              <a:rPr dirty="0"/>
              <a:t> N </a:t>
            </a:r>
            <a:r>
              <a:rPr dirty="0" err="1"/>
              <a:t>Bãi</a:t>
            </a:r>
            <a:r>
              <a:rPr dirty="0"/>
              <a:t>)</a:t>
            </a:r>
          </a:p>
          <a:p>
            <a:pPr>
              <a:spcAft>
                <a:spcPts val="800"/>
              </a:spcAft>
              <a:defRPr sz="1200">
                <a:solidFill>
                  <a:srgbClr val="0F172A"/>
                </a:solidFill>
                <a:latin typeface="Arial"/>
              </a:defRPr>
            </a:pPr>
            <a:r>
              <a:rPr dirty="0"/>
              <a:t>• </a:t>
            </a:r>
            <a:r>
              <a:rPr dirty="0" err="1"/>
              <a:t>Bài</a:t>
            </a:r>
            <a:r>
              <a:rPr dirty="0"/>
              <a:t> </a:t>
            </a:r>
            <a:r>
              <a:rPr dirty="0" err="1"/>
              <a:t>toán</a:t>
            </a:r>
            <a:r>
              <a:rPr dirty="0"/>
              <a:t> </a:t>
            </a:r>
            <a:r>
              <a:rPr dirty="0" err="1"/>
              <a:t>tổng</a:t>
            </a:r>
            <a:r>
              <a:rPr dirty="0"/>
              <a:t> </a:t>
            </a:r>
            <a:r>
              <a:rPr dirty="0" err="1"/>
              <a:t>quát</a:t>
            </a:r>
            <a:r>
              <a:rPr dirty="0"/>
              <a:t>: Quản </a:t>
            </a:r>
            <a:r>
              <a:rPr dirty="0" err="1"/>
              <a:t>lý</a:t>
            </a:r>
            <a:r>
              <a:rPr dirty="0"/>
              <a:t> </a:t>
            </a:r>
            <a:r>
              <a:rPr dirty="0" err="1"/>
              <a:t>chuỗi</a:t>
            </a:r>
            <a:r>
              <a:rPr dirty="0"/>
              <a:t> </a:t>
            </a:r>
            <a:r>
              <a:rPr dirty="0" err="1"/>
              <a:t>bãi</a:t>
            </a:r>
            <a:r>
              <a:rPr dirty="0"/>
              <a:t> </a:t>
            </a:r>
            <a:r>
              <a:rPr dirty="0" err="1"/>
              <a:t>đỗ</a:t>
            </a:r>
            <a:r>
              <a:rPr dirty="0"/>
              <a:t> </a:t>
            </a:r>
            <a:r>
              <a:rPr dirty="0" err="1"/>
              <a:t>xe</a:t>
            </a:r>
            <a:r>
              <a:rPr dirty="0"/>
              <a:t> </a:t>
            </a:r>
            <a:r>
              <a:rPr dirty="0" err="1"/>
              <a:t>quy</a:t>
            </a:r>
            <a:r>
              <a:rPr dirty="0"/>
              <a:t> </a:t>
            </a:r>
            <a:r>
              <a:rPr dirty="0" err="1"/>
              <a:t>mô</a:t>
            </a:r>
            <a:r>
              <a:rPr dirty="0"/>
              <a:t> </a:t>
            </a:r>
            <a:r>
              <a:rPr dirty="0" err="1"/>
              <a:t>linh</a:t>
            </a:r>
            <a:r>
              <a:rPr dirty="0"/>
              <a:t> </a:t>
            </a:r>
            <a:r>
              <a:rPr dirty="0" err="1"/>
              <a:t>hoạt</a:t>
            </a:r>
            <a:r>
              <a:rPr dirty="0"/>
              <a:t> (</a:t>
            </a:r>
            <a:r>
              <a:rPr dirty="0" err="1"/>
              <a:t>không</a:t>
            </a:r>
            <a:r>
              <a:rPr dirty="0"/>
              <a:t> </a:t>
            </a:r>
            <a:r>
              <a:rPr dirty="0" err="1"/>
              <a:t>cố</a:t>
            </a:r>
            <a:r>
              <a:rPr dirty="0"/>
              <a:t> </a:t>
            </a:r>
            <a:r>
              <a:rPr dirty="0" err="1"/>
              <a:t>định</a:t>
            </a:r>
            <a:r>
              <a:rPr dirty="0"/>
              <a:t> </a:t>
            </a:r>
            <a:r>
              <a:rPr dirty="0" err="1"/>
              <a:t>số</a:t>
            </a:r>
            <a:r>
              <a:rPr dirty="0"/>
              <a:t> </a:t>
            </a:r>
            <a:r>
              <a:rPr dirty="0" err="1"/>
              <a:t>lượng</a:t>
            </a:r>
            <a:r>
              <a:rPr dirty="0"/>
              <a:t> </a:t>
            </a:r>
            <a:r>
              <a:rPr dirty="0" err="1"/>
              <a:t>bãi</a:t>
            </a:r>
            <a:r>
              <a:rPr dirty="0"/>
              <a:t>, </a:t>
            </a:r>
            <a:r>
              <a:rPr dirty="0" err="1"/>
              <a:t>dễ</a:t>
            </a:r>
            <a:r>
              <a:rPr dirty="0"/>
              <a:t> </a:t>
            </a:r>
            <a:r>
              <a:rPr dirty="0" err="1"/>
              <a:t>dàng</a:t>
            </a:r>
            <a:r>
              <a:rPr dirty="0"/>
              <a:t> </a:t>
            </a:r>
            <a:r>
              <a:rPr dirty="0" err="1"/>
              <a:t>mở</a:t>
            </a:r>
            <a:r>
              <a:rPr dirty="0"/>
              <a:t> </a:t>
            </a:r>
            <a:r>
              <a:rPr dirty="0" err="1"/>
              <a:t>rộng</a:t>
            </a:r>
            <a:r>
              <a:rPr dirty="0"/>
              <a:t> N chi </a:t>
            </a:r>
            <a:r>
              <a:rPr dirty="0" err="1"/>
              <a:t>nhánh</a:t>
            </a:r>
            <a:r>
              <a:rPr dirty="0"/>
              <a:t> </a:t>
            </a:r>
            <a:r>
              <a:rPr dirty="0" err="1"/>
              <a:t>trên</a:t>
            </a:r>
            <a:r>
              <a:rPr dirty="0"/>
              <a:t> </a:t>
            </a:r>
            <a:r>
              <a:rPr dirty="0" err="1"/>
              <a:t>toàn</a:t>
            </a:r>
            <a:r>
              <a:rPr dirty="0"/>
              <a:t> </a:t>
            </a:r>
            <a:r>
              <a:rPr dirty="0" err="1"/>
              <a:t>quốc</a:t>
            </a:r>
            <a:r>
              <a:rPr dirty="0"/>
              <a:t>).</a:t>
            </a:r>
          </a:p>
          <a:p>
            <a:pPr>
              <a:spcAft>
                <a:spcPts val="800"/>
              </a:spcAft>
              <a:defRPr sz="1200">
                <a:solidFill>
                  <a:srgbClr val="0F172A"/>
                </a:solidFill>
                <a:latin typeface="Arial"/>
              </a:defRPr>
            </a:pPr>
            <a:r>
              <a:rPr dirty="0"/>
              <a:t>• </a:t>
            </a:r>
            <a:r>
              <a:rPr dirty="0" err="1"/>
              <a:t>Dữ</a:t>
            </a:r>
            <a:r>
              <a:rPr dirty="0"/>
              <a:t> </a:t>
            </a:r>
            <a:r>
              <a:rPr dirty="0" err="1"/>
              <a:t>liệu</a:t>
            </a:r>
            <a:r>
              <a:rPr dirty="0"/>
              <a:t> </a:t>
            </a:r>
            <a:r>
              <a:rPr dirty="0" err="1"/>
              <a:t>thử</a:t>
            </a:r>
            <a:r>
              <a:rPr dirty="0"/>
              <a:t> </a:t>
            </a:r>
            <a:r>
              <a:rPr dirty="0" err="1"/>
              <a:t>nghiệm</a:t>
            </a:r>
            <a:r>
              <a:rPr dirty="0"/>
              <a:t> (Pilot Demo): </a:t>
            </a:r>
            <a:r>
              <a:rPr dirty="0" err="1"/>
              <a:t>Triển</a:t>
            </a:r>
            <a:r>
              <a:rPr dirty="0"/>
              <a:t> </a:t>
            </a:r>
            <a:r>
              <a:rPr dirty="0" err="1"/>
              <a:t>khai</a:t>
            </a:r>
            <a:r>
              <a:rPr dirty="0"/>
              <a:t> </a:t>
            </a:r>
            <a:r>
              <a:rPr dirty="0" err="1"/>
              <a:t>mô</a:t>
            </a:r>
            <a:r>
              <a:rPr dirty="0"/>
              <a:t> </a:t>
            </a:r>
            <a:r>
              <a:rPr dirty="0" err="1"/>
              <a:t>phỏng</a:t>
            </a:r>
            <a:r>
              <a:rPr dirty="0"/>
              <a:t> </a:t>
            </a:r>
            <a:r>
              <a:rPr dirty="0" err="1"/>
              <a:t>trên</a:t>
            </a:r>
            <a:r>
              <a:rPr dirty="0"/>
              <a:t> </a:t>
            </a:r>
            <a:r>
              <a:rPr dirty="0" err="1"/>
              <a:t>chuỗi</a:t>
            </a:r>
            <a:r>
              <a:rPr dirty="0"/>
              <a:t> 5 </a:t>
            </a:r>
            <a:r>
              <a:rPr dirty="0" err="1"/>
              <a:t>bãi</a:t>
            </a:r>
            <a:r>
              <a:rPr dirty="0"/>
              <a:t> </a:t>
            </a:r>
            <a:r>
              <a:rPr dirty="0" err="1"/>
              <a:t>xe</a:t>
            </a:r>
            <a:r>
              <a:rPr dirty="0"/>
              <a:t> </a:t>
            </a:r>
            <a:r>
              <a:rPr dirty="0" err="1"/>
              <a:t>tiêu</a:t>
            </a:r>
            <a:r>
              <a:rPr dirty="0"/>
              <a:t> </a:t>
            </a:r>
            <a:r>
              <a:rPr dirty="0" err="1"/>
              <a:t>biểu</a:t>
            </a:r>
            <a:r>
              <a:rPr dirty="0"/>
              <a:t> </a:t>
            </a:r>
            <a:r>
              <a:rPr dirty="0" err="1"/>
              <a:t>tại</a:t>
            </a:r>
            <a:r>
              <a:rPr dirty="0"/>
              <a:t> TP.HCM (Q1, Q3, BT, TB, Q7)</a:t>
            </a:r>
            <a:r>
              <a:rPr lang="vi-VN" dirty="0"/>
              <a:t>.</a:t>
            </a:r>
          </a:p>
          <a:p>
            <a:pPr>
              <a:spcAft>
                <a:spcPts val="800"/>
              </a:spcAft>
              <a:defRPr sz="1200">
                <a:solidFill>
                  <a:srgbClr val="0F172A"/>
                </a:solidFill>
                <a:latin typeface="Arial"/>
              </a:defRPr>
            </a:pPr>
            <a:r>
              <a:rPr lang="vi-VN" dirty="0"/>
              <a:t>• Quản lý song song 2 hình thức: Gửi xe lượt (tính phí giờ lũy tiến riêng cho từng bãi) &amp; Đăng ký Vé tháng định kỳ.</a:t>
            </a:r>
          </a:p>
          <a:p>
            <a:pPr>
              <a:spcAft>
                <a:spcPts val="800"/>
              </a:spcAft>
              <a:defRPr sz="1200">
                <a:solidFill>
                  <a:srgbClr val="0F172A"/>
                </a:solidFill>
                <a:latin typeface="Arial"/>
              </a:defRPr>
            </a:pPr>
            <a:r>
              <a:rPr dirty="0"/>
              <a:t>• Quy </a:t>
            </a:r>
            <a:r>
              <a:rPr dirty="0" err="1"/>
              <a:t>tắc</a:t>
            </a:r>
            <a:r>
              <a:rPr dirty="0"/>
              <a:t> </a:t>
            </a:r>
            <a:r>
              <a:rPr dirty="0" err="1"/>
              <a:t>vé</a:t>
            </a:r>
            <a:r>
              <a:rPr dirty="0"/>
              <a:t> </a:t>
            </a:r>
            <a:r>
              <a:rPr dirty="0" err="1"/>
              <a:t>linh</a:t>
            </a:r>
            <a:r>
              <a:rPr dirty="0"/>
              <a:t> </a:t>
            </a:r>
            <a:r>
              <a:rPr dirty="0" err="1"/>
              <a:t>hoạt</a:t>
            </a:r>
            <a:r>
              <a:rPr dirty="0"/>
              <a:t>: </a:t>
            </a:r>
            <a:r>
              <a:rPr dirty="0" err="1"/>
              <a:t>Phân</a:t>
            </a:r>
            <a:r>
              <a:rPr dirty="0"/>
              <a:t> </a:t>
            </a:r>
            <a:r>
              <a:rPr dirty="0" err="1"/>
              <a:t>định</a:t>
            </a:r>
            <a:r>
              <a:rPr dirty="0"/>
              <a:t> </a:t>
            </a:r>
            <a:r>
              <a:rPr dirty="0" err="1"/>
              <a:t>Vé</a:t>
            </a:r>
            <a:r>
              <a:rPr dirty="0"/>
              <a:t> </a:t>
            </a:r>
            <a:r>
              <a:rPr dirty="0" err="1"/>
              <a:t>tháng</a:t>
            </a:r>
            <a:r>
              <a:rPr dirty="0"/>
              <a:t> 1 </a:t>
            </a:r>
            <a:r>
              <a:rPr dirty="0" err="1"/>
              <a:t>bãi</a:t>
            </a:r>
            <a:r>
              <a:rPr dirty="0"/>
              <a:t> </a:t>
            </a:r>
            <a:r>
              <a:rPr dirty="0" err="1"/>
              <a:t>cố</a:t>
            </a:r>
            <a:r>
              <a:rPr dirty="0"/>
              <a:t> </a:t>
            </a:r>
            <a:r>
              <a:rPr dirty="0" err="1"/>
              <a:t>định</a:t>
            </a:r>
            <a:r>
              <a:rPr dirty="0"/>
              <a:t> vs. </a:t>
            </a:r>
            <a:r>
              <a:rPr dirty="0" err="1"/>
              <a:t>Vé</a:t>
            </a:r>
            <a:r>
              <a:rPr dirty="0"/>
              <a:t> </a:t>
            </a:r>
            <a:r>
              <a:rPr dirty="0" err="1"/>
              <a:t>toàn</a:t>
            </a:r>
            <a:r>
              <a:rPr dirty="0"/>
              <a:t> </a:t>
            </a:r>
            <a:r>
              <a:rPr dirty="0" err="1"/>
              <a:t>chuỗi</a:t>
            </a:r>
            <a:r>
              <a:rPr dirty="0"/>
              <a:t> (</a:t>
            </a:r>
            <a:r>
              <a:rPr dirty="0" err="1"/>
              <a:t>MaBaiApDung</a:t>
            </a:r>
            <a:r>
              <a:rPr dirty="0"/>
              <a:t> = 'ALL' </a:t>
            </a:r>
            <a:r>
              <a:rPr dirty="0" err="1"/>
              <a:t>được</a:t>
            </a:r>
            <a:r>
              <a:rPr dirty="0"/>
              <a:t> </a:t>
            </a:r>
            <a:r>
              <a:rPr dirty="0" err="1"/>
              <a:t>đỗ</a:t>
            </a:r>
            <a:r>
              <a:rPr dirty="0"/>
              <a:t> </a:t>
            </a:r>
            <a:r>
              <a:rPr dirty="0" err="1"/>
              <a:t>ở</a:t>
            </a:r>
            <a:r>
              <a:rPr dirty="0"/>
              <a:t> </a:t>
            </a:r>
            <a:r>
              <a:rPr dirty="0" err="1"/>
              <a:t>mọi</a:t>
            </a:r>
            <a:r>
              <a:rPr dirty="0"/>
              <a:t> </a:t>
            </a:r>
            <a:r>
              <a:rPr dirty="0" err="1"/>
              <a:t>bãi</a:t>
            </a:r>
            <a:r>
              <a:rPr dirty="0"/>
              <a:t> </a:t>
            </a:r>
            <a:r>
              <a:rPr dirty="0" err="1"/>
              <a:t>thuộc</a:t>
            </a:r>
            <a:r>
              <a:rPr dirty="0"/>
              <a:t> </a:t>
            </a:r>
            <a:r>
              <a:rPr dirty="0" err="1"/>
              <a:t>hệ</a:t>
            </a:r>
            <a:r>
              <a:rPr dirty="0"/>
              <a:t> </a:t>
            </a:r>
            <a:r>
              <a:rPr dirty="0" err="1"/>
              <a:t>thống</a:t>
            </a:r>
            <a:r>
              <a:rPr dirty="0"/>
              <a:t>).</a:t>
            </a:r>
          </a:p>
          <a:p>
            <a:pPr>
              <a:spcAft>
                <a:spcPts val="800"/>
              </a:spcAft>
              <a:defRPr sz="1200">
                <a:solidFill>
                  <a:srgbClr val="0F172A"/>
                </a:solidFill>
                <a:latin typeface="Arial"/>
              </a:defRPr>
            </a:pPr>
            <a:r>
              <a:rPr dirty="0"/>
              <a:t>• </a:t>
            </a:r>
            <a:r>
              <a:rPr dirty="0" err="1"/>
              <a:t>Cổng</a:t>
            </a:r>
            <a:r>
              <a:rPr dirty="0"/>
              <a:t> </a:t>
            </a:r>
            <a:r>
              <a:rPr dirty="0" err="1"/>
              <a:t>khách</a:t>
            </a:r>
            <a:r>
              <a:rPr dirty="0"/>
              <a:t> </a:t>
            </a:r>
            <a:r>
              <a:rPr dirty="0" err="1"/>
              <a:t>hàng</a:t>
            </a:r>
            <a:r>
              <a:rPr dirty="0"/>
              <a:t> Online: Quản </a:t>
            </a:r>
            <a:r>
              <a:rPr dirty="0" err="1"/>
              <a:t>lý</a:t>
            </a:r>
            <a:r>
              <a:rPr dirty="0"/>
              <a:t> </a:t>
            </a:r>
            <a:r>
              <a:rPr dirty="0" err="1"/>
              <a:t>Ví</a:t>
            </a:r>
            <a:r>
              <a:rPr dirty="0"/>
              <a:t> </a:t>
            </a:r>
            <a:r>
              <a:rPr dirty="0" err="1"/>
              <a:t>điện</a:t>
            </a:r>
            <a:r>
              <a:rPr dirty="0"/>
              <a:t> </a:t>
            </a:r>
            <a:r>
              <a:rPr dirty="0" err="1"/>
              <a:t>tử</a:t>
            </a:r>
            <a:r>
              <a:rPr dirty="0"/>
              <a:t> </a:t>
            </a:r>
            <a:r>
              <a:rPr dirty="0" err="1"/>
              <a:t>trả</a:t>
            </a:r>
            <a:r>
              <a:rPr dirty="0"/>
              <a:t> </a:t>
            </a:r>
            <a:r>
              <a:rPr dirty="0" err="1"/>
              <a:t>trước</a:t>
            </a:r>
            <a:r>
              <a:rPr dirty="0"/>
              <a:t> </a:t>
            </a:r>
            <a:r>
              <a:rPr dirty="0" err="1"/>
              <a:t>nạp</a:t>
            </a:r>
            <a:r>
              <a:rPr dirty="0"/>
              <a:t> </a:t>
            </a:r>
            <a:r>
              <a:rPr dirty="0" err="1"/>
              <a:t>tiền</a:t>
            </a:r>
            <a:r>
              <a:rPr dirty="0"/>
              <a:t> 2 </a:t>
            </a:r>
            <a:r>
              <a:rPr dirty="0" err="1"/>
              <a:t>pha</a:t>
            </a:r>
            <a:r>
              <a:rPr dirty="0"/>
              <a:t>, chia </a:t>
            </a:r>
            <a:r>
              <a:rPr dirty="0" err="1"/>
              <a:t>sẻ</a:t>
            </a:r>
            <a:r>
              <a:rPr dirty="0"/>
              <a:t>/</a:t>
            </a:r>
            <a:r>
              <a:rPr dirty="0" err="1"/>
              <a:t>ủy</a:t>
            </a:r>
            <a:r>
              <a:rPr dirty="0"/>
              <a:t> </a:t>
            </a:r>
            <a:r>
              <a:rPr dirty="0" err="1"/>
              <a:t>quyền</a:t>
            </a:r>
            <a:r>
              <a:rPr dirty="0"/>
              <a:t> </a:t>
            </a:r>
            <a:r>
              <a:rPr dirty="0" err="1"/>
              <a:t>vé</a:t>
            </a:r>
            <a:r>
              <a:rPr dirty="0"/>
              <a:t> </a:t>
            </a:r>
            <a:r>
              <a:rPr dirty="0" err="1"/>
              <a:t>tháng</a:t>
            </a:r>
            <a:r>
              <a:rPr dirty="0"/>
              <a:t> </a:t>
            </a:r>
            <a:r>
              <a:rPr dirty="0" err="1"/>
              <a:t>và</a:t>
            </a:r>
            <a:r>
              <a:rPr dirty="0"/>
              <a:t> </a:t>
            </a:r>
            <a:r>
              <a:rPr dirty="0" err="1"/>
              <a:t>xem</a:t>
            </a:r>
            <a:r>
              <a:rPr dirty="0"/>
              <a:t> </a:t>
            </a:r>
            <a:r>
              <a:rPr dirty="0" err="1"/>
              <a:t>lịch</a:t>
            </a:r>
            <a:r>
              <a:rPr dirty="0"/>
              <a:t> </a:t>
            </a:r>
            <a:r>
              <a:rPr dirty="0" err="1"/>
              <a:t>sử</a:t>
            </a:r>
            <a:r>
              <a:rPr dirty="0"/>
              <a:t> </a:t>
            </a:r>
            <a:r>
              <a:rPr dirty="0" err="1"/>
              <a:t>gửi</a:t>
            </a:r>
            <a:r>
              <a:rPr dirty="0"/>
              <a:t> </a:t>
            </a:r>
            <a:r>
              <a:rPr dirty="0" err="1"/>
              <a:t>xe</a:t>
            </a:r>
            <a:r>
              <a:rPr dirty="0"/>
              <a:t>.</a:t>
            </a:r>
          </a:p>
        </p:txBody>
      </p:sp>
      <p:sp>
        <p:nvSpPr>
          <p:cNvPr id="5" name="Rounded Rectangle 4"/>
          <p:cNvSpPr/>
          <p:nvPr/>
        </p:nvSpPr>
        <p:spPr>
          <a:xfrm>
            <a:off x="6278270" y="1371600"/>
            <a:ext cx="5180990" cy="484632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06870" y="1600200"/>
            <a:ext cx="4723790" cy="4389120"/>
          </a:xfrm>
          <a:prstGeom prst="rect">
            <a:avLst/>
          </a:prstGeom>
          <a:noFill/>
        </p:spPr>
        <p:txBody>
          <a:bodyPr wrap="square" lIns="0" tIns="0" rIns="0" bIns="0">
            <a:spAutoFit/>
          </a:bodyPr>
          <a:lstStyle/>
          <a:p>
            <a:pPr>
              <a:spcAft>
                <a:spcPts val="1000"/>
              </a:spcAft>
              <a:defRPr sz="1500" b="1">
                <a:solidFill>
                  <a:srgbClr val="DC2626"/>
                </a:solidFill>
                <a:latin typeface="Arial"/>
              </a:defRPr>
            </a:pPr>
            <a:r>
              <a:t>⚠️ Thách Thức Vận Hành &amp; Yêu Cầu CSDL</a:t>
            </a:r>
          </a:p>
          <a:p>
            <a:pPr>
              <a:spcAft>
                <a:spcPts val="1200"/>
              </a:spcAft>
              <a:defRPr sz="1200">
                <a:solidFill>
                  <a:srgbClr val="0F172A"/>
                </a:solidFill>
                <a:latin typeface="Arial"/>
              </a:defRPr>
            </a:pPr>
            <a:r>
              <a:t>1. Tự động hóa Barrier: Kiểm soát xe vào/ra dưới 2 giây, tự động tìm và cấp ô đỗ trống khớp loại xe.</a:t>
            </a:r>
          </a:p>
          <a:p>
            <a:pPr>
              <a:spcAft>
                <a:spcPts val="1200"/>
              </a:spcAft>
              <a:defRPr sz="1200">
                <a:solidFill>
                  <a:srgbClr val="0F172A"/>
                </a:solidFill>
                <a:latin typeface="Arial"/>
              </a:defRPr>
            </a:pPr>
            <a:r>
              <a:t>2. Ràng buộc toàn vẹn dữ liệu: Ngăn chặn check-in khi bãi đầy, thẻ bị khóa/báo mất, hoặc vé tháng quá hạn.</a:t>
            </a:r>
          </a:p>
          <a:p>
            <a:pPr>
              <a:spcAft>
                <a:spcPts val="1200"/>
              </a:spcAft>
              <a:defRPr sz="1200">
                <a:solidFill>
                  <a:srgbClr val="0F172A"/>
                </a:solidFill>
                <a:latin typeface="Arial"/>
              </a:defRPr>
            </a:pPr>
            <a:r>
              <a:t>3. Bảo mật đa lớp: Áp dụng RBAC (4 Vai trò), RLS (Cô lập dữ liệu khách hàng) và Băm mật khẩu SHA2_512 có Salt.</a:t>
            </a:r>
          </a:p>
          <a:p>
            <a:pPr>
              <a:spcAft>
                <a:spcPts val="1200"/>
              </a:spcAft>
              <a:defRPr sz="1200">
                <a:solidFill>
                  <a:srgbClr val="0F172A"/>
                </a:solidFill>
                <a:latin typeface="Arial"/>
              </a:defRPr>
            </a:pPr>
            <a:r>
              <a:t>4. Toàn vẹn tài chính: Sổ cái kế toán bất biến (Append-Only) chống gian lận và quy trình nạp tiền 2 pha chống trùng.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300" b="1">
                <a:solidFill>
                  <a:srgbClr val="0284C7"/>
                </a:solidFill>
                <a:latin typeface="Arial"/>
              </a:defRPr>
            </a:pPr>
            <a:r>
              <a:t>KỊCH BẢN DEMO #01 — SP-XE-VAO-BAI</a:t>
            </a:r>
          </a:p>
          <a:p>
            <a:pPr>
              <a:defRPr sz="2000" b="1">
                <a:solidFill>
                  <a:srgbClr val="0F172A"/>
                </a:solidFill>
                <a:latin typeface="Arial"/>
              </a:defRPr>
            </a:pPr>
            <a:r>
              <a:t>DEMO 01: Check-In Xe Vào Bãi &amp; Cấp Ô Đỗ Tự Động</a:t>
            </a:r>
          </a:p>
        </p:txBody>
      </p:sp>
      <p:sp>
        <p:nvSpPr>
          <p:cNvPr id="3" name="Rounded Rectangle 2"/>
          <p:cNvSpPr/>
          <p:nvPr/>
        </p:nvSpPr>
        <p:spPr>
          <a:xfrm>
            <a:off x="73152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1508760"/>
            <a:ext cx="4723790" cy="4480560"/>
          </a:xfrm>
          <a:prstGeom prst="rect">
            <a:avLst/>
          </a:prstGeom>
          <a:noFill/>
        </p:spPr>
        <p:txBody>
          <a:bodyPr wrap="square" lIns="0" tIns="0" rIns="0" bIns="0">
            <a:spAutoFit/>
          </a:bodyPr>
          <a:lstStyle/>
          <a:p>
            <a:pPr>
              <a:spcAft>
                <a:spcPts val="1000"/>
              </a:spcAft>
              <a:defRPr sz="1500" b="1">
                <a:solidFill>
                  <a:srgbClr val="0284C7"/>
                </a:solidFill>
                <a:latin typeface="Arial"/>
              </a:defRPr>
            </a:pPr>
            <a:r>
              <a:t>🎯 BÀI TOÁN NGHIỆP VỤ</a:t>
            </a:r>
          </a:p>
          <a:p>
            <a:pPr>
              <a:lnSpc>
                <a:spcPct val="125000"/>
              </a:lnSpc>
              <a:defRPr sz="1250">
                <a:solidFill>
                  <a:srgbClr val="0F172A"/>
                </a:solidFill>
                <a:latin typeface="Arial"/>
              </a:defRPr>
            </a:pPr>
            <a:r>
              <a:t>Khách quét thẻ chip vào bãi. Hệ thống phải kiểm tra tính hợp lệ của thẻ, bãi đỗ và tự động tìm một vị trí đỗ trống phù hợp với loại xe để cấp cho khách, đồng thời đồng bộ sơ đồ ô đỗ realtime.</a:t>
            </a:r>
          </a:p>
        </p:txBody>
      </p:sp>
      <p:sp>
        <p:nvSpPr>
          <p:cNvPr id="5" name="Rounded Rectangle 4"/>
          <p:cNvSpPr/>
          <p:nvPr/>
        </p:nvSpPr>
        <p:spPr>
          <a:xfrm>
            <a:off x="627827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06870" y="1508760"/>
            <a:ext cx="4723790" cy="4480560"/>
          </a:xfrm>
          <a:prstGeom prst="rect">
            <a:avLst/>
          </a:prstGeom>
          <a:noFill/>
        </p:spPr>
        <p:txBody>
          <a:bodyPr wrap="square" lIns="0" tIns="0" rIns="0" bIns="0">
            <a:spAutoFit/>
          </a:bodyPr>
          <a:lstStyle/>
          <a:p>
            <a:pPr>
              <a:spcAft>
                <a:spcPts val="1000"/>
              </a:spcAft>
              <a:defRPr sz="1400" b="1">
                <a:solidFill>
                  <a:srgbClr val="0F172A"/>
                </a:solidFill>
                <a:latin typeface="Arial"/>
              </a:defRPr>
            </a:pPr>
            <a:r>
              <a:t>🗄️ CÁC BẢNG DỮ LIỆU &amp; ĐỐI TƯỢNG CSDL LIÊN QUAN</a:t>
            </a:r>
          </a:p>
          <a:p>
            <a:pPr>
              <a:spcAft>
                <a:spcPts val="400"/>
              </a:spcAft>
              <a:defRPr sz="1200" b="1">
                <a:solidFill>
                  <a:srgbClr val="0F172A"/>
                </a:solidFill>
                <a:latin typeface="Arial"/>
              </a:defRPr>
            </a:pPr>
            <a:r>
              <a:t>• Các bảng dữ liệu bị ảnh hưởng / truy vấn:</a:t>
            </a:r>
          </a:p>
          <a:p>
            <a:pPr>
              <a:spcAft>
                <a:spcPts val="300"/>
              </a:spcAft>
              <a:defRPr sz="1150">
                <a:solidFill>
                  <a:srgbClr val="0F172A"/>
                </a:solidFill>
                <a:latin typeface="Arial"/>
              </a:defRPr>
            </a:pPr>
            <a:r>
              <a:t>    - LUOT_GUI (Ghi nhận lượt check-in mới)</a:t>
            </a:r>
          </a:p>
          <a:p>
            <a:pPr>
              <a:spcAft>
                <a:spcPts val="300"/>
              </a:spcAft>
              <a:defRPr sz="1150">
                <a:solidFill>
                  <a:srgbClr val="0F172A"/>
                </a:solidFill>
                <a:latin typeface="Arial"/>
              </a:defRPr>
            </a:pPr>
            <a:r>
              <a:t>    - VI_TRI_DO (Đổi trạng thái ô đỗ thành 'Đã đỗ')</a:t>
            </a:r>
          </a:p>
          <a:p>
            <a:pPr>
              <a:spcAft>
                <a:spcPts val="300"/>
              </a:spcAft>
              <a:defRPr sz="1150">
                <a:solidFill>
                  <a:srgbClr val="0F172A"/>
                </a:solidFill>
                <a:latin typeface="Arial"/>
              </a:defRPr>
            </a:pPr>
            <a:r>
              <a:t>    - BAI_DO_XE (Tăng số lượng xe đỗ trong bãi lên 1)</a:t>
            </a:r>
          </a:p>
          <a:p>
            <a:pPr>
              <a:spcAft>
                <a:spcPts val="300"/>
              </a:spcAft>
              <a:defRPr sz="1150">
                <a:solidFill>
                  <a:srgbClr val="0F172A"/>
                </a:solidFill>
                <a:latin typeface="Arial"/>
              </a:defRPr>
            </a:pPr>
            <a:r>
              <a:t>    - THE_XE (Xác minh trạng thái thẻ)</a:t>
            </a:r>
          </a:p>
          <a:p>
            <a:pPr>
              <a:spcBef>
                <a:spcPts val="800"/>
              </a:spcBef>
              <a:spcAft>
                <a:spcPts val="400"/>
              </a:spcAft>
              <a:defRPr sz="1200" b="1">
                <a:solidFill>
                  <a:srgbClr val="0284C7"/>
                </a:solidFill>
                <a:latin typeface="Arial"/>
              </a:defRPr>
            </a:pPr>
            <a:r>
              <a:t>• Đối tượng T-SQL xử lý cốt lõi:</a:t>
            </a:r>
          </a:p>
          <a:p>
            <a:pPr>
              <a:defRPr sz="1150" b="1">
                <a:solidFill>
                  <a:srgbClr val="0F172A"/>
                </a:solidFill>
                <a:latin typeface="Arial"/>
              </a:defRPr>
            </a:pPr>
            <a:r>
              <a:t>    Stored Procedure sp_XeVaoBai + Function f_TimSlotTrong + Trigger trg_DongBoTrangThaiSlot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300" b="1">
                <a:solidFill>
                  <a:srgbClr val="0284C7"/>
                </a:solidFill>
                <a:latin typeface="Arial"/>
              </a:defRPr>
            </a:pPr>
            <a:r>
              <a:t>KỊCH BẢN DEMO #02 — SP-XE-RA-BAI</a:t>
            </a:r>
          </a:p>
          <a:p>
            <a:pPr>
              <a:defRPr sz="2000" b="1">
                <a:solidFill>
                  <a:srgbClr val="0F172A"/>
                </a:solidFill>
                <a:latin typeface="Arial"/>
              </a:defRPr>
            </a:pPr>
            <a:r>
              <a:t>DEMO 02: Check-Out Xe Ra Bãi &amp; Tính Phí Gửi Lũy Tiến</a:t>
            </a:r>
          </a:p>
        </p:txBody>
      </p:sp>
      <p:sp>
        <p:nvSpPr>
          <p:cNvPr id="3" name="Rounded Rectangle 2"/>
          <p:cNvSpPr/>
          <p:nvPr/>
        </p:nvSpPr>
        <p:spPr>
          <a:xfrm>
            <a:off x="73152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1508760"/>
            <a:ext cx="4723790" cy="4480560"/>
          </a:xfrm>
          <a:prstGeom prst="rect">
            <a:avLst/>
          </a:prstGeom>
          <a:noFill/>
        </p:spPr>
        <p:txBody>
          <a:bodyPr wrap="square" lIns="0" tIns="0" rIns="0" bIns="0">
            <a:spAutoFit/>
          </a:bodyPr>
          <a:lstStyle/>
          <a:p>
            <a:pPr>
              <a:spcAft>
                <a:spcPts val="1000"/>
              </a:spcAft>
              <a:defRPr sz="1500" b="1">
                <a:solidFill>
                  <a:srgbClr val="0284C7"/>
                </a:solidFill>
                <a:latin typeface="Arial"/>
              </a:defRPr>
            </a:pPr>
            <a:r>
              <a:t>🎯 BÀI TOÁN NGHIỆP VỤ</a:t>
            </a:r>
          </a:p>
          <a:p>
            <a:pPr>
              <a:lnSpc>
                <a:spcPct val="125000"/>
              </a:lnSpc>
              <a:defRPr sz="1250">
                <a:solidFill>
                  <a:srgbClr val="0F172A"/>
                </a:solidFill>
                <a:latin typeface="Arial"/>
              </a:defRPr>
            </a:pPr>
            <a:r>
              <a:t>Xe quét thẻ ra bãi. Hệ thống đối chiếu thông tin lượt vào, tự động tính tổng tiền đỗ xe dựa trên giờ gửi thực tế và biểu phí lũy tiến của chi nhánh, giải phóng ô đỗ về trạng thái 'Trống'.</a:t>
            </a:r>
          </a:p>
        </p:txBody>
      </p:sp>
      <p:sp>
        <p:nvSpPr>
          <p:cNvPr id="5" name="Rounded Rectangle 4"/>
          <p:cNvSpPr/>
          <p:nvPr/>
        </p:nvSpPr>
        <p:spPr>
          <a:xfrm>
            <a:off x="627827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06870" y="1508760"/>
            <a:ext cx="4723790" cy="4480560"/>
          </a:xfrm>
          <a:prstGeom prst="rect">
            <a:avLst/>
          </a:prstGeom>
          <a:noFill/>
        </p:spPr>
        <p:txBody>
          <a:bodyPr wrap="square" lIns="0" tIns="0" rIns="0" bIns="0">
            <a:spAutoFit/>
          </a:bodyPr>
          <a:lstStyle/>
          <a:p>
            <a:pPr>
              <a:spcAft>
                <a:spcPts val="1000"/>
              </a:spcAft>
              <a:defRPr sz="1400" b="1">
                <a:solidFill>
                  <a:srgbClr val="0F172A"/>
                </a:solidFill>
                <a:latin typeface="Arial"/>
              </a:defRPr>
            </a:pPr>
            <a:r>
              <a:t>🗄️ CÁC BẢNG DỮ LIỆU &amp; ĐỐI TƯỢNG CSDL LIÊN QUAN</a:t>
            </a:r>
          </a:p>
          <a:p>
            <a:pPr>
              <a:spcAft>
                <a:spcPts val="400"/>
              </a:spcAft>
              <a:defRPr sz="1200" b="1">
                <a:solidFill>
                  <a:srgbClr val="0F172A"/>
                </a:solidFill>
                <a:latin typeface="Arial"/>
              </a:defRPr>
            </a:pPr>
            <a:r>
              <a:t>• Các bảng dữ liệu bị ảnh hưởng / truy vấn:</a:t>
            </a:r>
          </a:p>
          <a:p>
            <a:pPr>
              <a:spcAft>
                <a:spcPts val="300"/>
              </a:spcAft>
              <a:defRPr sz="1150">
                <a:solidFill>
                  <a:srgbClr val="0F172A"/>
                </a:solidFill>
                <a:latin typeface="Arial"/>
              </a:defRPr>
            </a:pPr>
            <a:r>
              <a:t>    - LUOT_GUI (Cập nhật thời gian ra &amp; số tiền thu)</a:t>
            </a:r>
          </a:p>
          <a:p>
            <a:pPr>
              <a:spcAft>
                <a:spcPts val="300"/>
              </a:spcAft>
              <a:defRPr sz="1150">
                <a:solidFill>
                  <a:srgbClr val="0F172A"/>
                </a:solidFill>
                <a:latin typeface="Arial"/>
              </a:defRPr>
            </a:pPr>
            <a:r>
              <a:t>    - VI_TRI_DO (Chuyển trạng thái ô về 'Trống')</a:t>
            </a:r>
          </a:p>
          <a:p>
            <a:pPr>
              <a:spcAft>
                <a:spcPts val="300"/>
              </a:spcAft>
              <a:defRPr sz="1150">
                <a:solidFill>
                  <a:srgbClr val="0F172A"/>
                </a:solidFill>
                <a:latin typeface="Arial"/>
              </a:defRPr>
            </a:pPr>
            <a:r>
              <a:t>    - BAI_DO_XE (Giảm số lượng xe đỗ trong bãi đi 1)</a:t>
            </a:r>
          </a:p>
          <a:p>
            <a:pPr>
              <a:spcAft>
                <a:spcPts val="300"/>
              </a:spcAft>
              <a:defRPr sz="1150">
                <a:solidFill>
                  <a:srgbClr val="0F172A"/>
                </a:solidFill>
                <a:latin typeface="Arial"/>
              </a:defRPr>
            </a:pPr>
            <a:r>
              <a:t>    - LOAI_XE (Truy xuất biểu phí đơn giá giờ)</a:t>
            </a:r>
          </a:p>
          <a:p>
            <a:pPr>
              <a:spcBef>
                <a:spcPts val="800"/>
              </a:spcBef>
              <a:spcAft>
                <a:spcPts val="400"/>
              </a:spcAft>
              <a:defRPr sz="1200" b="1">
                <a:solidFill>
                  <a:srgbClr val="0284C7"/>
                </a:solidFill>
                <a:latin typeface="Arial"/>
              </a:defRPr>
            </a:pPr>
            <a:r>
              <a:t>• Đối tượng T-SQL xử lý cốt lõi:</a:t>
            </a:r>
          </a:p>
          <a:p>
            <a:pPr>
              <a:defRPr sz="1150" b="1">
                <a:solidFill>
                  <a:srgbClr val="0F172A"/>
                </a:solidFill>
                <a:latin typeface="Arial"/>
              </a:defRPr>
            </a:pPr>
            <a:r>
              <a:t>    Stored Procedure sp_XeRaBai + Function f_TinhTienGuiXe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533479"/>
          </a:xfrm>
          <a:prstGeom prst="rect">
            <a:avLst/>
          </a:prstGeom>
          <a:noFill/>
        </p:spPr>
        <p:txBody>
          <a:bodyPr wrap="square" lIns="0" tIns="0" rIns="0" bIns="0">
            <a:spAutoFit/>
          </a:bodyPr>
          <a:lstStyle/>
          <a:p>
            <a:pPr>
              <a:spcAft>
                <a:spcPts val="200"/>
              </a:spcAft>
              <a:defRPr sz="1300" b="1">
                <a:solidFill>
                  <a:srgbClr val="0284C7"/>
                </a:solidFill>
                <a:latin typeface="Arial"/>
              </a:defRPr>
            </a:pPr>
            <a:r>
              <a:rPr dirty="0"/>
              <a:t>KỊCH BẢN DEMO #03 — SP-DANG-KY-THANH-VIEN</a:t>
            </a:r>
          </a:p>
          <a:p>
            <a:pPr>
              <a:defRPr sz="2000" b="1">
                <a:solidFill>
                  <a:srgbClr val="0F172A"/>
                </a:solidFill>
                <a:latin typeface="Arial"/>
              </a:defRPr>
            </a:pPr>
            <a:r>
              <a:rPr dirty="0"/>
              <a:t>DEMO 03: </a:t>
            </a:r>
            <a:r>
              <a:rPr dirty="0" err="1"/>
              <a:t>Đăng</a:t>
            </a:r>
            <a:r>
              <a:rPr dirty="0"/>
              <a:t> </a:t>
            </a:r>
            <a:r>
              <a:rPr dirty="0" err="1"/>
              <a:t>Ký</a:t>
            </a:r>
            <a:r>
              <a:rPr dirty="0"/>
              <a:t> </a:t>
            </a:r>
            <a:r>
              <a:rPr dirty="0" err="1"/>
              <a:t>Vé</a:t>
            </a:r>
            <a:r>
              <a:rPr dirty="0"/>
              <a:t> </a:t>
            </a:r>
            <a:r>
              <a:rPr dirty="0" err="1"/>
              <a:t>Tháng</a:t>
            </a:r>
            <a:r>
              <a:rPr dirty="0"/>
              <a:t> </a:t>
            </a:r>
            <a:r>
              <a:rPr dirty="0" err="1"/>
              <a:t>Tại</a:t>
            </a:r>
            <a:r>
              <a:rPr dirty="0"/>
              <a:t> </a:t>
            </a:r>
            <a:r>
              <a:rPr dirty="0" err="1"/>
              <a:t>Quầy</a:t>
            </a:r>
            <a:endParaRPr dirty="0"/>
          </a:p>
        </p:txBody>
      </p:sp>
      <p:sp>
        <p:nvSpPr>
          <p:cNvPr id="3" name="Rounded Rectangle 2"/>
          <p:cNvSpPr/>
          <p:nvPr/>
        </p:nvSpPr>
        <p:spPr>
          <a:xfrm>
            <a:off x="73152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1508760"/>
            <a:ext cx="4723790" cy="4480560"/>
          </a:xfrm>
          <a:prstGeom prst="rect">
            <a:avLst/>
          </a:prstGeom>
          <a:noFill/>
        </p:spPr>
        <p:txBody>
          <a:bodyPr wrap="square" lIns="0" tIns="0" rIns="0" bIns="0">
            <a:spAutoFit/>
          </a:bodyPr>
          <a:lstStyle/>
          <a:p>
            <a:pPr>
              <a:spcAft>
                <a:spcPts val="1000"/>
              </a:spcAft>
              <a:defRPr sz="1500" b="1">
                <a:solidFill>
                  <a:srgbClr val="0284C7"/>
                </a:solidFill>
                <a:latin typeface="Arial"/>
              </a:defRPr>
            </a:pPr>
            <a:r>
              <a:t>🎯 BÀI TOÁN NGHIỆP VỤ</a:t>
            </a:r>
          </a:p>
          <a:p>
            <a:pPr>
              <a:lnSpc>
                <a:spcPct val="125000"/>
              </a:lnSpc>
              <a:defRPr sz="1250">
                <a:solidFill>
                  <a:srgbClr val="0F172A"/>
                </a:solidFill>
                <a:latin typeface="Arial"/>
              </a:defRPr>
            </a:pPr>
            <a:r>
              <a:t>Tiếp nhận khách hàng mới đăng ký vé tháng tại quầy. Toàn bộ 4 thao tác (tạo hồ sơ khách, chuyển thẻ sang 'Tháng', tạo vé tháng và lập hóa đơn) phải thành công đồng thời trong 1 Transaction ACID.</a:t>
            </a:r>
          </a:p>
        </p:txBody>
      </p:sp>
      <p:sp>
        <p:nvSpPr>
          <p:cNvPr id="5" name="Rounded Rectangle 4"/>
          <p:cNvSpPr/>
          <p:nvPr/>
        </p:nvSpPr>
        <p:spPr>
          <a:xfrm>
            <a:off x="627827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06870" y="1508760"/>
            <a:ext cx="4723790" cy="4480560"/>
          </a:xfrm>
          <a:prstGeom prst="rect">
            <a:avLst/>
          </a:prstGeom>
          <a:noFill/>
        </p:spPr>
        <p:txBody>
          <a:bodyPr wrap="square" lIns="0" tIns="0" rIns="0" bIns="0">
            <a:spAutoFit/>
          </a:bodyPr>
          <a:lstStyle/>
          <a:p>
            <a:pPr>
              <a:spcAft>
                <a:spcPts val="1000"/>
              </a:spcAft>
              <a:defRPr sz="1400" b="1">
                <a:solidFill>
                  <a:srgbClr val="0F172A"/>
                </a:solidFill>
                <a:latin typeface="Arial"/>
              </a:defRPr>
            </a:pPr>
            <a:r>
              <a:t>🗄️ CÁC BẢNG DỮ LIỆU &amp; ĐỐI TƯỢNG CSDL LIÊN QUAN</a:t>
            </a:r>
          </a:p>
          <a:p>
            <a:pPr>
              <a:spcAft>
                <a:spcPts val="400"/>
              </a:spcAft>
              <a:defRPr sz="1200" b="1">
                <a:solidFill>
                  <a:srgbClr val="0F172A"/>
                </a:solidFill>
                <a:latin typeface="Arial"/>
              </a:defRPr>
            </a:pPr>
            <a:r>
              <a:t>• Các bảng dữ liệu bị ảnh hưởng / truy vấn:</a:t>
            </a:r>
          </a:p>
          <a:p>
            <a:pPr>
              <a:spcAft>
                <a:spcPts val="300"/>
              </a:spcAft>
              <a:defRPr sz="1150">
                <a:solidFill>
                  <a:srgbClr val="0F172A"/>
                </a:solidFill>
                <a:latin typeface="Arial"/>
              </a:defRPr>
            </a:pPr>
            <a:r>
              <a:t>    - KHACH_HANG (Tạo/Cập nhật thông tin khách)</a:t>
            </a:r>
          </a:p>
          <a:p>
            <a:pPr>
              <a:spcAft>
                <a:spcPts val="300"/>
              </a:spcAft>
              <a:defRPr sz="1150">
                <a:solidFill>
                  <a:srgbClr val="0F172A"/>
                </a:solidFill>
                <a:latin typeface="Arial"/>
              </a:defRPr>
            </a:pPr>
            <a:r>
              <a:t>    - THE_XE (Cập nhật loại thẻ sang 'Tháng')</a:t>
            </a:r>
          </a:p>
          <a:p>
            <a:pPr>
              <a:spcAft>
                <a:spcPts val="300"/>
              </a:spcAft>
              <a:defRPr sz="1150">
                <a:solidFill>
                  <a:srgbClr val="0F172A"/>
                </a:solidFill>
                <a:latin typeface="Arial"/>
              </a:defRPr>
            </a:pPr>
            <a:r>
              <a:t>    - VE_THANG (Khởi tạo hợp đồng vé tháng mới)</a:t>
            </a:r>
          </a:p>
          <a:p>
            <a:pPr>
              <a:spcAft>
                <a:spcPts val="300"/>
              </a:spcAft>
              <a:defRPr sz="1150">
                <a:solidFill>
                  <a:srgbClr val="0F172A"/>
                </a:solidFill>
                <a:latin typeface="Arial"/>
              </a:defRPr>
            </a:pPr>
            <a:r>
              <a:t>    - HOA_DON_VE_THANG (Lập hóa đơn thu tiền tại quầy)</a:t>
            </a:r>
          </a:p>
          <a:p>
            <a:pPr>
              <a:spcBef>
                <a:spcPts val="800"/>
              </a:spcBef>
              <a:spcAft>
                <a:spcPts val="400"/>
              </a:spcAft>
              <a:defRPr sz="1200" b="1">
                <a:solidFill>
                  <a:srgbClr val="0284C7"/>
                </a:solidFill>
                <a:latin typeface="Arial"/>
              </a:defRPr>
            </a:pPr>
            <a:r>
              <a:t>• Đối tượng T-SQL xử lý cốt lõi:</a:t>
            </a:r>
          </a:p>
          <a:p>
            <a:pPr>
              <a:defRPr sz="1150" b="1">
                <a:solidFill>
                  <a:srgbClr val="0F172A"/>
                </a:solidFill>
                <a:latin typeface="Arial"/>
              </a:defRPr>
            </a:pPr>
            <a:r>
              <a:t>    Stored Procedure sp_DangKyThanhVien (Transaction 4 bước)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533479"/>
          </a:xfrm>
          <a:prstGeom prst="rect">
            <a:avLst/>
          </a:prstGeom>
          <a:noFill/>
        </p:spPr>
        <p:txBody>
          <a:bodyPr wrap="square" lIns="0" tIns="0" rIns="0" bIns="0">
            <a:spAutoFit/>
          </a:bodyPr>
          <a:lstStyle/>
          <a:p>
            <a:pPr>
              <a:spcAft>
                <a:spcPts val="200"/>
              </a:spcAft>
              <a:defRPr sz="1300" b="1">
                <a:solidFill>
                  <a:srgbClr val="0284C7"/>
                </a:solidFill>
                <a:latin typeface="Arial"/>
              </a:defRPr>
            </a:pPr>
            <a:r>
              <a:rPr dirty="0"/>
              <a:t>KỊCH BẢN DEMO #04 — SP-GIA-HAN-VE-THANG</a:t>
            </a:r>
          </a:p>
          <a:p>
            <a:pPr>
              <a:defRPr sz="2000" b="1">
                <a:solidFill>
                  <a:srgbClr val="0F172A"/>
                </a:solidFill>
                <a:latin typeface="Arial"/>
              </a:defRPr>
            </a:pPr>
            <a:r>
              <a:rPr dirty="0"/>
              <a:t>DEMO 04: Gia Hạn </a:t>
            </a:r>
            <a:r>
              <a:rPr dirty="0" err="1"/>
              <a:t>Vé</a:t>
            </a:r>
            <a:r>
              <a:rPr dirty="0"/>
              <a:t> </a:t>
            </a:r>
            <a:r>
              <a:rPr dirty="0" err="1"/>
              <a:t>Tháng</a:t>
            </a:r>
            <a:r>
              <a:rPr dirty="0"/>
              <a:t> </a:t>
            </a:r>
            <a:r>
              <a:rPr dirty="0" err="1"/>
              <a:t>Tại</a:t>
            </a:r>
            <a:r>
              <a:rPr dirty="0"/>
              <a:t> </a:t>
            </a:r>
            <a:r>
              <a:rPr dirty="0" err="1"/>
              <a:t>Quầy</a:t>
            </a:r>
            <a:endParaRPr dirty="0"/>
          </a:p>
        </p:txBody>
      </p:sp>
      <p:sp>
        <p:nvSpPr>
          <p:cNvPr id="3" name="Rounded Rectangle 2"/>
          <p:cNvSpPr/>
          <p:nvPr/>
        </p:nvSpPr>
        <p:spPr>
          <a:xfrm>
            <a:off x="73152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1508760"/>
            <a:ext cx="4723790" cy="4480560"/>
          </a:xfrm>
          <a:prstGeom prst="rect">
            <a:avLst/>
          </a:prstGeom>
          <a:noFill/>
        </p:spPr>
        <p:txBody>
          <a:bodyPr wrap="square" lIns="0" tIns="0" rIns="0" bIns="0">
            <a:spAutoFit/>
          </a:bodyPr>
          <a:lstStyle/>
          <a:p>
            <a:pPr>
              <a:spcAft>
                <a:spcPts val="1000"/>
              </a:spcAft>
              <a:defRPr sz="1500" b="1">
                <a:solidFill>
                  <a:srgbClr val="0284C7"/>
                </a:solidFill>
                <a:latin typeface="Arial"/>
              </a:defRPr>
            </a:pPr>
            <a:r>
              <a:t>🎯 BÀI TOÁN NGHIỆP VỤ</a:t>
            </a:r>
          </a:p>
          <a:p>
            <a:pPr>
              <a:lnSpc>
                <a:spcPct val="125000"/>
              </a:lnSpc>
              <a:defRPr sz="1250">
                <a:solidFill>
                  <a:srgbClr val="0F172A"/>
                </a:solidFill>
                <a:latin typeface="Arial"/>
              </a:defRPr>
            </a:pPr>
            <a:r>
              <a:t>Khách hàng đến quầy đóng tiền gia hạn vé tháng. Hệ thống kiểm tra bãi xe áp dụng, cộng thêm ngày hạn vé, xuất hóa đơn gia hạn và gửi thông báo cho khách.</a:t>
            </a:r>
          </a:p>
        </p:txBody>
      </p:sp>
      <p:sp>
        <p:nvSpPr>
          <p:cNvPr id="5" name="Rounded Rectangle 4"/>
          <p:cNvSpPr/>
          <p:nvPr/>
        </p:nvSpPr>
        <p:spPr>
          <a:xfrm>
            <a:off x="627827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06870" y="1508760"/>
            <a:ext cx="4723790" cy="4480560"/>
          </a:xfrm>
          <a:prstGeom prst="rect">
            <a:avLst/>
          </a:prstGeom>
          <a:noFill/>
        </p:spPr>
        <p:txBody>
          <a:bodyPr wrap="square" lIns="0" tIns="0" rIns="0" bIns="0">
            <a:spAutoFit/>
          </a:bodyPr>
          <a:lstStyle/>
          <a:p>
            <a:pPr>
              <a:spcAft>
                <a:spcPts val="1000"/>
              </a:spcAft>
              <a:defRPr sz="1400" b="1">
                <a:solidFill>
                  <a:srgbClr val="0F172A"/>
                </a:solidFill>
                <a:latin typeface="Arial"/>
              </a:defRPr>
            </a:pPr>
            <a:r>
              <a:t>🗄️ CÁC BẢNG DỮ LIỆU &amp; ĐỐI TƯỢNG CSDL LIÊN QUAN</a:t>
            </a:r>
          </a:p>
          <a:p>
            <a:pPr>
              <a:spcAft>
                <a:spcPts val="400"/>
              </a:spcAft>
              <a:defRPr sz="1200" b="1">
                <a:solidFill>
                  <a:srgbClr val="0F172A"/>
                </a:solidFill>
                <a:latin typeface="Arial"/>
              </a:defRPr>
            </a:pPr>
            <a:r>
              <a:t>• Các bảng dữ liệu bị ảnh hưởng / truy vấn:</a:t>
            </a:r>
          </a:p>
          <a:p>
            <a:pPr>
              <a:spcAft>
                <a:spcPts val="300"/>
              </a:spcAft>
              <a:defRPr sz="1150">
                <a:solidFill>
                  <a:srgbClr val="0F172A"/>
                </a:solidFill>
                <a:latin typeface="Arial"/>
              </a:defRPr>
            </a:pPr>
            <a:r>
              <a:t>    - VE_THANG (Cộng thêm thời gian hiệu lực)</a:t>
            </a:r>
          </a:p>
          <a:p>
            <a:pPr>
              <a:spcAft>
                <a:spcPts val="300"/>
              </a:spcAft>
              <a:defRPr sz="1150">
                <a:solidFill>
                  <a:srgbClr val="0F172A"/>
                </a:solidFill>
                <a:latin typeface="Arial"/>
              </a:defRPr>
            </a:pPr>
            <a:r>
              <a:t>    - HOA_DON_VE_THANG (Lập hóa đơn gia hạn tại quầy)</a:t>
            </a:r>
          </a:p>
          <a:p>
            <a:pPr>
              <a:spcAft>
                <a:spcPts val="300"/>
              </a:spcAft>
              <a:defRPr sz="1150">
                <a:solidFill>
                  <a:srgbClr val="0F172A"/>
                </a:solidFill>
                <a:latin typeface="Arial"/>
              </a:defRPr>
            </a:pPr>
            <a:r>
              <a:t>    - BAI_DO_XE (Xác minh thẩm quyền chi nhánh)</a:t>
            </a:r>
          </a:p>
          <a:p>
            <a:pPr>
              <a:spcBef>
                <a:spcPts val="800"/>
              </a:spcBef>
              <a:spcAft>
                <a:spcPts val="400"/>
              </a:spcAft>
              <a:defRPr sz="1200" b="1">
                <a:solidFill>
                  <a:srgbClr val="0284C7"/>
                </a:solidFill>
                <a:latin typeface="Arial"/>
              </a:defRPr>
            </a:pPr>
            <a:r>
              <a:t>• Đối tượng T-SQL xử lý cốt lõi:</a:t>
            </a:r>
          </a:p>
          <a:p>
            <a:pPr>
              <a:defRPr sz="1150" b="1">
                <a:solidFill>
                  <a:srgbClr val="0F172A"/>
                </a:solidFill>
                <a:latin typeface="Arial"/>
              </a:defRPr>
            </a:pPr>
            <a:r>
              <a:t>    Stored Procedure sp_GiaHanVeThang + sp_GiaHanVe_Core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533479"/>
          </a:xfrm>
          <a:prstGeom prst="rect">
            <a:avLst/>
          </a:prstGeom>
          <a:noFill/>
        </p:spPr>
        <p:txBody>
          <a:bodyPr wrap="square" lIns="0" tIns="0" rIns="0" bIns="0">
            <a:spAutoFit/>
          </a:bodyPr>
          <a:lstStyle/>
          <a:p>
            <a:pPr>
              <a:spcAft>
                <a:spcPts val="200"/>
              </a:spcAft>
              <a:defRPr sz="1300" b="1">
                <a:solidFill>
                  <a:srgbClr val="0284C7"/>
                </a:solidFill>
                <a:latin typeface="Arial"/>
              </a:defRPr>
            </a:pPr>
            <a:r>
              <a:rPr dirty="0"/>
              <a:t>KỊCH BẢN DEMO #05 — SP-BAO-MAT-THE</a:t>
            </a:r>
          </a:p>
          <a:p>
            <a:pPr>
              <a:defRPr sz="2000" b="1">
                <a:solidFill>
                  <a:srgbClr val="0F172A"/>
                </a:solidFill>
                <a:latin typeface="Arial"/>
              </a:defRPr>
            </a:pPr>
            <a:r>
              <a:rPr dirty="0"/>
              <a:t>DEMO 05: Báo </a:t>
            </a:r>
            <a:r>
              <a:rPr dirty="0" err="1"/>
              <a:t>Mất</a:t>
            </a:r>
            <a:r>
              <a:rPr dirty="0"/>
              <a:t> </a:t>
            </a:r>
            <a:r>
              <a:rPr dirty="0" err="1"/>
              <a:t>Thẻ</a:t>
            </a:r>
            <a:r>
              <a:rPr dirty="0"/>
              <a:t> &amp; </a:t>
            </a:r>
            <a:r>
              <a:rPr lang="en-US" dirty="0" err="1"/>
              <a:t>Phạt</a:t>
            </a:r>
            <a:r>
              <a:rPr lang="en-US" dirty="0"/>
              <a:t> </a:t>
            </a:r>
            <a:r>
              <a:rPr lang="en-US" dirty="0" err="1"/>
              <a:t>Đền</a:t>
            </a:r>
            <a:r>
              <a:rPr lang="en-US" dirty="0"/>
              <a:t> </a:t>
            </a:r>
            <a:r>
              <a:rPr lang="en-US" dirty="0" err="1"/>
              <a:t>Bù</a:t>
            </a:r>
            <a:endParaRPr dirty="0"/>
          </a:p>
        </p:txBody>
      </p:sp>
      <p:sp>
        <p:nvSpPr>
          <p:cNvPr id="3" name="Rounded Rectangle 2"/>
          <p:cNvSpPr/>
          <p:nvPr/>
        </p:nvSpPr>
        <p:spPr>
          <a:xfrm>
            <a:off x="73152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1508760"/>
            <a:ext cx="4723790" cy="4480560"/>
          </a:xfrm>
          <a:prstGeom prst="rect">
            <a:avLst/>
          </a:prstGeom>
          <a:noFill/>
        </p:spPr>
        <p:txBody>
          <a:bodyPr wrap="square" lIns="0" tIns="0" rIns="0" bIns="0">
            <a:spAutoFit/>
          </a:bodyPr>
          <a:lstStyle/>
          <a:p>
            <a:pPr>
              <a:spcAft>
                <a:spcPts val="1000"/>
              </a:spcAft>
              <a:defRPr sz="1500" b="1">
                <a:solidFill>
                  <a:srgbClr val="0284C7"/>
                </a:solidFill>
                <a:latin typeface="Arial"/>
              </a:defRPr>
            </a:pPr>
            <a:r>
              <a:t>🎯 BÀI TOÁN NGHIỆP VỤ</a:t>
            </a:r>
          </a:p>
          <a:p>
            <a:pPr>
              <a:lnSpc>
                <a:spcPct val="125000"/>
              </a:lnSpc>
              <a:defRPr sz="1250">
                <a:solidFill>
                  <a:srgbClr val="0F172A"/>
                </a:solidFill>
                <a:latin typeface="Arial"/>
              </a:defRPr>
            </a:pPr>
            <a:r>
              <a:t>Khách hàng báo mất thẻ quét vật lý. Hệ thống chuyển trạng thái thẻ sang 'Mất', tạm khóa vé tháng và Trigger tự động ghi nhận biên bản sự cố đền bù thẻ vào sổ nhật ký.</a:t>
            </a:r>
          </a:p>
        </p:txBody>
      </p:sp>
      <p:sp>
        <p:nvSpPr>
          <p:cNvPr id="5" name="Rounded Rectangle 4"/>
          <p:cNvSpPr/>
          <p:nvPr/>
        </p:nvSpPr>
        <p:spPr>
          <a:xfrm>
            <a:off x="627827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06870" y="1508760"/>
            <a:ext cx="4723790" cy="4480560"/>
          </a:xfrm>
          <a:prstGeom prst="rect">
            <a:avLst/>
          </a:prstGeom>
          <a:noFill/>
        </p:spPr>
        <p:txBody>
          <a:bodyPr wrap="square" lIns="0" tIns="0" rIns="0" bIns="0">
            <a:spAutoFit/>
          </a:bodyPr>
          <a:lstStyle/>
          <a:p>
            <a:pPr>
              <a:spcAft>
                <a:spcPts val="1000"/>
              </a:spcAft>
              <a:defRPr sz="1400" b="1">
                <a:solidFill>
                  <a:srgbClr val="0F172A"/>
                </a:solidFill>
                <a:latin typeface="Arial"/>
              </a:defRPr>
            </a:pPr>
            <a:r>
              <a:t>🗄️ CÁC BẢNG DỮ LIỆU &amp; ĐỐI TƯỢNG CSDL LIÊN QUAN</a:t>
            </a:r>
          </a:p>
          <a:p>
            <a:pPr>
              <a:spcAft>
                <a:spcPts val="400"/>
              </a:spcAft>
              <a:defRPr sz="1200" b="1">
                <a:solidFill>
                  <a:srgbClr val="0F172A"/>
                </a:solidFill>
                <a:latin typeface="Arial"/>
              </a:defRPr>
            </a:pPr>
            <a:r>
              <a:t>• Các bảng dữ liệu bị ảnh hưởng / truy vấn:</a:t>
            </a:r>
          </a:p>
          <a:p>
            <a:pPr>
              <a:spcAft>
                <a:spcPts val="300"/>
              </a:spcAft>
              <a:defRPr sz="1150">
                <a:solidFill>
                  <a:srgbClr val="0F172A"/>
                </a:solidFill>
                <a:latin typeface="Arial"/>
              </a:defRPr>
            </a:pPr>
            <a:r>
              <a:t>    - THE_XE (Đổi trạng thái thẻ sang 'Mất')</a:t>
            </a:r>
          </a:p>
          <a:p>
            <a:pPr>
              <a:spcAft>
                <a:spcPts val="300"/>
              </a:spcAft>
              <a:defRPr sz="1150">
                <a:solidFill>
                  <a:srgbClr val="0F172A"/>
                </a:solidFill>
                <a:latin typeface="Arial"/>
              </a:defRPr>
            </a:pPr>
            <a:r>
              <a:t>    - VE_THANG (Chuyển trạng thái vé sang 'Tạm khóa')</a:t>
            </a:r>
          </a:p>
          <a:p>
            <a:pPr>
              <a:spcAft>
                <a:spcPts val="300"/>
              </a:spcAft>
              <a:defRPr sz="1150">
                <a:solidFill>
                  <a:srgbClr val="0F172A"/>
                </a:solidFill>
                <a:latin typeface="Arial"/>
              </a:defRPr>
            </a:pPr>
            <a:r>
              <a:t>    - LICHSU_SU_CO (Tự động ghi nhận biên bản sự cố &amp; tiền phạt)</a:t>
            </a:r>
          </a:p>
          <a:p>
            <a:pPr>
              <a:spcBef>
                <a:spcPts val="800"/>
              </a:spcBef>
              <a:spcAft>
                <a:spcPts val="400"/>
              </a:spcAft>
              <a:defRPr sz="1200" b="1">
                <a:solidFill>
                  <a:srgbClr val="0284C7"/>
                </a:solidFill>
                <a:latin typeface="Arial"/>
              </a:defRPr>
            </a:pPr>
            <a:r>
              <a:t>• Đối tượng T-SQL xử lý cốt lõi:</a:t>
            </a:r>
          </a:p>
          <a:p>
            <a:pPr>
              <a:defRPr sz="1150" b="1">
                <a:solidFill>
                  <a:srgbClr val="0F172A"/>
                </a:solidFill>
                <a:latin typeface="Arial"/>
              </a:defRPr>
            </a:pPr>
            <a:r>
              <a:t>    Stored Procedure sp_BaoMatThe + Trigger trg_LogLichSuSuCo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533479"/>
          </a:xfrm>
          <a:prstGeom prst="rect">
            <a:avLst/>
          </a:prstGeom>
          <a:noFill/>
        </p:spPr>
        <p:txBody>
          <a:bodyPr wrap="square" lIns="0" tIns="0" rIns="0" bIns="0">
            <a:spAutoFit/>
          </a:bodyPr>
          <a:lstStyle/>
          <a:p>
            <a:pPr>
              <a:spcAft>
                <a:spcPts val="200"/>
              </a:spcAft>
              <a:defRPr sz="1300" b="1">
                <a:solidFill>
                  <a:srgbClr val="0284C7"/>
                </a:solidFill>
                <a:latin typeface="Arial"/>
              </a:defRPr>
            </a:pPr>
            <a:r>
              <a:rPr dirty="0"/>
              <a:t>KỊCH BẢN DEMO #06 — SP-CAP-LAI-THE</a:t>
            </a:r>
          </a:p>
          <a:p>
            <a:pPr>
              <a:defRPr sz="2000" b="1">
                <a:solidFill>
                  <a:srgbClr val="0F172A"/>
                </a:solidFill>
                <a:latin typeface="Arial"/>
              </a:defRPr>
            </a:pPr>
            <a:r>
              <a:rPr dirty="0"/>
              <a:t>DEMO 06: </a:t>
            </a:r>
            <a:r>
              <a:rPr lang="en-US" dirty="0" err="1"/>
              <a:t>Cấp</a:t>
            </a:r>
            <a:r>
              <a:rPr lang="en-US" dirty="0"/>
              <a:t> </a:t>
            </a:r>
            <a:r>
              <a:rPr lang="en-US" dirty="0" err="1"/>
              <a:t>Lại</a:t>
            </a:r>
            <a:r>
              <a:rPr lang="en-US" dirty="0"/>
              <a:t> Thẻ Xe Cho </a:t>
            </a:r>
            <a:r>
              <a:rPr lang="en-US" dirty="0" err="1"/>
              <a:t>Vé</a:t>
            </a:r>
            <a:r>
              <a:rPr lang="en-US" dirty="0"/>
              <a:t> Tháng </a:t>
            </a:r>
            <a:r>
              <a:rPr lang="en-US" dirty="0" err="1"/>
              <a:t>Mới</a:t>
            </a:r>
            <a:endParaRPr dirty="0"/>
          </a:p>
        </p:txBody>
      </p:sp>
      <p:sp>
        <p:nvSpPr>
          <p:cNvPr id="3" name="Rounded Rectangle 2"/>
          <p:cNvSpPr/>
          <p:nvPr/>
        </p:nvSpPr>
        <p:spPr>
          <a:xfrm>
            <a:off x="73152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1508760"/>
            <a:ext cx="4723790" cy="4480560"/>
          </a:xfrm>
          <a:prstGeom prst="rect">
            <a:avLst/>
          </a:prstGeom>
          <a:noFill/>
        </p:spPr>
        <p:txBody>
          <a:bodyPr wrap="square" lIns="0" tIns="0" rIns="0" bIns="0">
            <a:spAutoFit/>
          </a:bodyPr>
          <a:lstStyle/>
          <a:p>
            <a:pPr>
              <a:spcAft>
                <a:spcPts val="1000"/>
              </a:spcAft>
              <a:defRPr sz="1500" b="1">
                <a:solidFill>
                  <a:srgbClr val="0284C7"/>
                </a:solidFill>
                <a:latin typeface="Arial"/>
              </a:defRPr>
            </a:pPr>
            <a:r>
              <a:t>🎯 BÀI TOÁN NGHIỆP VỤ</a:t>
            </a:r>
          </a:p>
          <a:p>
            <a:pPr>
              <a:lnSpc>
                <a:spcPct val="125000"/>
              </a:lnSpc>
              <a:defRPr sz="1250">
                <a:solidFill>
                  <a:srgbClr val="0F172A"/>
                </a:solidFill>
                <a:latin typeface="Arial"/>
              </a:defRPr>
            </a:pPr>
            <a:r>
              <a:t>Tái sử dụng phôi thẻ vật lý của vé đã hết hạn cho khách hàng mới. Hệ thống kiểm tra Filtered Unique Index đảm bảo 1 phôi thẻ chỉ gắn với duy nhất 1 vé còn hạn sử dụng.</a:t>
            </a:r>
          </a:p>
        </p:txBody>
      </p:sp>
      <p:sp>
        <p:nvSpPr>
          <p:cNvPr id="5" name="Rounded Rectangle 4"/>
          <p:cNvSpPr/>
          <p:nvPr/>
        </p:nvSpPr>
        <p:spPr>
          <a:xfrm>
            <a:off x="627827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06870" y="1508760"/>
            <a:ext cx="4723790" cy="4480560"/>
          </a:xfrm>
          <a:prstGeom prst="rect">
            <a:avLst/>
          </a:prstGeom>
          <a:noFill/>
        </p:spPr>
        <p:txBody>
          <a:bodyPr wrap="square" lIns="0" tIns="0" rIns="0" bIns="0">
            <a:spAutoFit/>
          </a:bodyPr>
          <a:lstStyle/>
          <a:p>
            <a:pPr>
              <a:spcAft>
                <a:spcPts val="1000"/>
              </a:spcAft>
              <a:defRPr sz="1400" b="1">
                <a:solidFill>
                  <a:srgbClr val="0F172A"/>
                </a:solidFill>
                <a:latin typeface="Arial"/>
              </a:defRPr>
            </a:pPr>
            <a:r>
              <a:t>🗄️ CÁC BẢNG DỮ LIỆU &amp; ĐỐI TƯỢNG CSDL LIÊN QUAN</a:t>
            </a:r>
          </a:p>
          <a:p>
            <a:pPr>
              <a:spcAft>
                <a:spcPts val="400"/>
              </a:spcAft>
              <a:defRPr sz="1200" b="1">
                <a:solidFill>
                  <a:srgbClr val="0F172A"/>
                </a:solidFill>
                <a:latin typeface="Arial"/>
              </a:defRPr>
            </a:pPr>
            <a:r>
              <a:t>• Các bảng dữ liệu bị ảnh hưởng / truy vấn:</a:t>
            </a:r>
          </a:p>
          <a:p>
            <a:pPr>
              <a:spcAft>
                <a:spcPts val="300"/>
              </a:spcAft>
              <a:defRPr sz="1150">
                <a:solidFill>
                  <a:srgbClr val="0F172A"/>
                </a:solidFill>
                <a:latin typeface="Arial"/>
              </a:defRPr>
            </a:pPr>
            <a:r>
              <a:t>    - THE_XE (Gắn thẻ với hợp đồng vé mới)</a:t>
            </a:r>
          </a:p>
          <a:p>
            <a:pPr>
              <a:spcAft>
                <a:spcPts val="300"/>
              </a:spcAft>
              <a:defRPr sz="1150">
                <a:solidFill>
                  <a:srgbClr val="0F172A"/>
                </a:solidFill>
                <a:latin typeface="Arial"/>
              </a:defRPr>
            </a:pPr>
            <a:r>
              <a:t>    - VE_THANG (Cập nhật thông tin vé tháng)</a:t>
            </a:r>
          </a:p>
          <a:p>
            <a:pPr>
              <a:spcAft>
                <a:spcPts val="300"/>
              </a:spcAft>
              <a:defRPr sz="1150">
                <a:solidFill>
                  <a:srgbClr val="0F172A"/>
                </a:solidFill>
                <a:latin typeface="Arial"/>
              </a:defRPr>
            </a:pPr>
            <a:r>
              <a:t>    - LUOT_GUI (Ghi nhận lượt gửi theo vé mới)</a:t>
            </a:r>
          </a:p>
          <a:p>
            <a:pPr>
              <a:spcBef>
                <a:spcPts val="800"/>
              </a:spcBef>
              <a:spcAft>
                <a:spcPts val="400"/>
              </a:spcAft>
              <a:defRPr sz="1200" b="1">
                <a:solidFill>
                  <a:srgbClr val="0284C7"/>
                </a:solidFill>
                <a:latin typeface="Arial"/>
              </a:defRPr>
            </a:pPr>
            <a:r>
              <a:t>• Đối tượng T-SQL xử lý cốt lõi:</a:t>
            </a:r>
          </a:p>
          <a:p>
            <a:pPr>
              <a:defRPr sz="1150" b="1">
                <a:solidFill>
                  <a:srgbClr val="0F172A"/>
                </a:solidFill>
                <a:latin typeface="Arial"/>
              </a:defRPr>
            </a:pPr>
            <a:r>
              <a:t>    Stored Procedure sp_DangKyThanhVien + Function f_VeHienHanhCuaThe + Filtered Unique Index UX_VeThang_MaThe_ConDung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300" b="1">
                <a:solidFill>
                  <a:srgbClr val="0284C7"/>
                </a:solidFill>
                <a:latin typeface="Arial"/>
              </a:defRPr>
            </a:pPr>
            <a:r>
              <a:t>KỊCH BẢN DEMO #07 — SP-DANG-NHAP-NHAN-VIEN</a:t>
            </a:r>
          </a:p>
          <a:p>
            <a:pPr>
              <a:defRPr sz="2000" b="1">
                <a:solidFill>
                  <a:srgbClr val="0F172A"/>
                </a:solidFill>
                <a:latin typeface="Arial"/>
              </a:defRPr>
            </a:pPr>
            <a:r>
              <a:t>DEMO 07: Đăng Nhập Nhân Viên &amp; Mật Khẩu Băm SHA2_512 + Salt</a:t>
            </a:r>
          </a:p>
        </p:txBody>
      </p:sp>
      <p:sp>
        <p:nvSpPr>
          <p:cNvPr id="3" name="Rounded Rectangle 2"/>
          <p:cNvSpPr/>
          <p:nvPr/>
        </p:nvSpPr>
        <p:spPr>
          <a:xfrm>
            <a:off x="73152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1508760"/>
            <a:ext cx="4723790" cy="4480560"/>
          </a:xfrm>
          <a:prstGeom prst="rect">
            <a:avLst/>
          </a:prstGeom>
          <a:noFill/>
        </p:spPr>
        <p:txBody>
          <a:bodyPr wrap="square" lIns="0" tIns="0" rIns="0" bIns="0">
            <a:spAutoFit/>
          </a:bodyPr>
          <a:lstStyle/>
          <a:p>
            <a:pPr>
              <a:spcAft>
                <a:spcPts val="1000"/>
              </a:spcAft>
              <a:defRPr sz="1500" b="1">
                <a:solidFill>
                  <a:srgbClr val="0284C7"/>
                </a:solidFill>
                <a:latin typeface="Arial"/>
              </a:defRPr>
            </a:pPr>
            <a:r>
              <a:t>🎯 BÀI TOÁN NGHIỆP VỤ</a:t>
            </a:r>
          </a:p>
          <a:p>
            <a:pPr>
              <a:lnSpc>
                <a:spcPct val="125000"/>
              </a:lnSpc>
              <a:defRPr sz="1250">
                <a:solidFill>
                  <a:srgbClr val="0F172A"/>
                </a:solidFill>
                <a:latin typeface="Arial"/>
              </a:defRPr>
            </a:pPr>
            <a:r>
              <a:t>Xác thực tài khoản nhân viên vận hành hệ thống bãi đỗ. Mật khẩu được băm một chiều SHA2_512 kết hợp chuỗi Salt 16-byte ngẫu nhiên riêng cho từng tài khoản.</a:t>
            </a:r>
          </a:p>
        </p:txBody>
      </p:sp>
      <p:sp>
        <p:nvSpPr>
          <p:cNvPr id="5" name="Rounded Rectangle 4"/>
          <p:cNvSpPr/>
          <p:nvPr/>
        </p:nvSpPr>
        <p:spPr>
          <a:xfrm>
            <a:off x="627827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06870" y="1508760"/>
            <a:ext cx="4723790" cy="4480560"/>
          </a:xfrm>
          <a:prstGeom prst="rect">
            <a:avLst/>
          </a:prstGeom>
          <a:noFill/>
        </p:spPr>
        <p:txBody>
          <a:bodyPr wrap="square" lIns="0" tIns="0" rIns="0" bIns="0">
            <a:spAutoFit/>
          </a:bodyPr>
          <a:lstStyle/>
          <a:p>
            <a:pPr>
              <a:spcAft>
                <a:spcPts val="1000"/>
              </a:spcAft>
              <a:defRPr sz="1400" b="1">
                <a:solidFill>
                  <a:srgbClr val="0F172A"/>
                </a:solidFill>
                <a:latin typeface="Arial"/>
              </a:defRPr>
            </a:pPr>
            <a:r>
              <a:t>🗄️ CÁC BẢNG DỮ LIỆU &amp; ĐỐI TƯỢNG CSDL LIÊN QUAN</a:t>
            </a:r>
          </a:p>
          <a:p>
            <a:pPr>
              <a:spcAft>
                <a:spcPts val="400"/>
              </a:spcAft>
              <a:defRPr sz="1200" b="1">
                <a:solidFill>
                  <a:srgbClr val="0F172A"/>
                </a:solidFill>
                <a:latin typeface="Arial"/>
              </a:defRPr>
            </a:pPr>
            <a:r>
              <a:t>• Các bảng dữ liệu bị ảnh hưởng / truy vấn:</a:t>
            </a:r>
          </a:p>
          <a:p>
            <a:pPr>
              <a:spcAft>
                <a:spcPts val="300"/>
              </a:spcAft>
              <a:defRPr sz="1150">
                <a:solidFill>
                  <a:srgbClr val="0F172A"/>
                </a:solidFill>
                <a:latin typeface="Arial"/>
              </a:defRPr>
            </a:pPr>
            <a:r>
              <a:t>    - NHAN_VIEN (Truy xuất thông tin nhân sự)</a:t>
            </a:r>
          </a:p>
          <a:p>
            <a:pPr>
              <a:spcAft>
                <a:spcPts val="300"/>
              </a:spcAft>
              <a:defRPr sz="1150">
                <a:solidFill>
                  <a:srgbClr val="0F172A"/>
                </a:solidFill>
                <a:latin typeface="Arial"/>
              </a:defRPr>
            </a:pPr>
            <a:r>
              <a:t>    - TAI_KHOAN (Đối chiếu chuỗi băm mật khẩu và Salt)</a:t>
            </a:r>
          </a:p>
          <a:p>
            <a:pPr>
              <a:spcBef>
                <a:spcPts val="800"/>
              </a:spcBef>
              <a:spcAft>
                <a:spcPts val="400"/>
              </a:spcAft>
              <a:defRPr sz="1200" b="1">
                <a:solidFill>
                  <a:srgbClr val="0284C7"/>
                </a:solidFill>
                <a:latin typeface="Arial"/>
              </a:defRPr>
            </a:pPr>
            <a:r>
              <a:t>• Đối tượng T-SQL xử lý cốt lõi:</a:t>
            </a:r>
          </a:p>
          <a:p>
            <a:pPr>
              <a:defRPr sz="1150" b="1">
                <a:solidFill>
                  <a:srgbClr val="0F172A"/>
                </a:solidFill>
                <a:latin typeface="Arial"/>
              </a:defRPr>
            </a:pPr>
            <a:r>
              <a:t>    Stored Procedure sp_DangNhap + Function f_BamMatKhau (SHA2_512)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300" b="1">
                <a:solidFill>
                  <a:srgbClr val="0284C7"/>
                </a:solidFill>
                <a:latin typeface="Arial"/>
              </a:defRPr>
            </a:pPr>
            <a:r>
              <a:t>KỊCH BẢN DEMO #08 — TRIGGER-CHAN-CHECKIN-LOI</a:t>
            </a:r>
          </a:p>
          <a:p>
            <a:pPr>
              <a:defRPr sz="2000" b="1">
                <a:solidFill>
                  <a:srgbClr val="0F172A"/>
                </a:solidFill>
                <a:latin typeface="Arial"/>
              </a:defRPr>
            </a:pPr>
            <a:r>
              <a:t>DEMO 08: Trigger Chặn Check-In Thẻ Bị Khóa, Báo Mất Hoặc Bãi Đầy</a:t>
            </a:r>
          </a:p>
        </p:txBody>
      </p:sp>
      <p:sp>
        <p:nvSpPr>
          <p:cNvPr id="3" name="Rounded Rectangle 2"/>
          <p:cNvSpPr/>
          <p:nvPr/>
        </p:nvSpPr>
        <p:spPr>
          <a:xfrm>
            <a:off x="73152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1508760"/>
            <a:ext cx="4723790" cy="4480560"/>
          </a:xfrm>
          <a:prstGeom prst="rect">
            <a:avLst/>
          </a:prstGeom>
          <a:noFill/>
        </p:spPr>
        <p:txBody>
          <a:bodyPr wrap="square" lIns="0" tIns="0" rIns="0" bIns="0">
            <a:spAutoFit/>
          </a:bodyPr>
          <a:lstStyle/>
          <a:p>
            <a:pPr>
              <a:spcAft>
                <a:spcPts val="1000"/>
              </a:spcAft>
              <a:defRPr sz="1500" b="1">
                <a:solidFill>
                  <a:srgbClr val="0284C7"/>
                </a:solidFill>
                <a:latin typeface="Arial"/>
              </a:defRPr>
            </a:pPr>
            <a:r>
              <a:t>🎯 BÀI TOÁN NGHIỆP VỤ</a:t>
            </a:r>
          </a:p>
          <a:p>
            <a:pPr>
              <a:lnSpc>
                <a:spcPct val="125000"/>
              </a:lnSpc>
              <a:defRPr sz="1250">
                <a:solidFill>
                  <a:srgbClr val="0F172A"/>
                </a:solidFill>
                <a:latin typeface="Arial"/>
              </a:defRPr>
            </a:pPr>
            <a:r>
              <a:t>Tự động ngăn chặn giao dịch xe vào bãi nếu thẻ quét bị báo mất, bị khóa vĩnh viễn, hoặc dung lượng bãi đỗ tại chi nhánh đã lấp đầy 100%.</a:t>
            </a:r>
          </a:p>
        </p:txBody>
      </p:sp>
      <p:sp>
        <p:nvSpPr>
          <p:cNvPr id="5" name="Rounded Rectangle 4"/>
          <p:cNvSpPr/>
          <p:nvPr/>
        </p:nvSpPr>
        <p:spPr>
          <a:xfrm>
            <a:off x="627827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06870" y="1508760"/>
            <a:ext cx="4723790" cy="4480560"/>
          </a:xfrm>
          <a:prstGeom prst="rect">
            <a:avLst/>
          </a:prstGeom>
          <a:noFill/>
        </p:spPr>
        <p:txBody>
          <a:bodyPr wrap="square" lIns="0" tIns="0" rIns="0" bIns="0">
            <a:spAutoFit/>
          </a:bodyPr>
          <a:lstStyle/>
          <a:p>
            <a:pPr>
              <a:spcAft>
                <a:spcPts val="1000"/>
              </a:spcAft>
              <a:defRPr sz="1400" b="1">
                <a:solidFill>
                  <a:srgbClr val="0F172A"/>
                </a:solidFill>
                <a:latin typeface="Arial"/>
              </a:defRPr>
            </a:pPr>
            <a:r>
              <a:t>🗄️ CÁC BẢNG DỮ LIỆU &amp; ĐỐI TƯỢNG CSDL LIÊN QUAN</a:t>
            </a:r>
          </a:p>
          <a:p>
            <a:pPr>
              <a:spcAft>
                <a:spcPts val="400"/>
              </a:spcAft>
              <a:defRPr sz="1200" b="1">
                <a:solidFill>
                  <a:srgbClr val="0F172A"/>
                </a:solidFill>
                <a:latin typeface="Arial"/>
              </a:defRPr>
            </a:pPr>
            <a:r>
              <a:t>• Các bảng dữ liệu bị ảnh hưởng / truy vấn:</a:t>
            </a:r>
          </a:p>
          <a:p>
            <a:pPr>
              <a:spcAft>
                <a:spcPts val="300"/>
              </a:spcAft>
              <a:defRPr sz="1150">
                <a:solidFill>
                  <a:srgbClr val="0F172A"/>
                </a:solidFill>
                <a:latin typeface="Arial"/>
              </a:defRPr>
            </a:pPr>
            <a:r>
              <a:t>    - LUOT_GUI (Ngăn chặn INSERT bản ghi vi phạm)</a:t>
            </a:r>
          </a:p>
          <a:p>
            <a:pPr>
              <a:spcAft>
                <a:spcPts val="300"/>
              </a:spcAft>
              <a:defRPr sz="1150">
                <a:solidFill>
                  <a:srgbClr val="0F172A"/>
                </a:solidFill>
                <a:latin typeface="Arial"/>
              </a:defRPr>
            </a:pPr>
            <a:r>
              <a:t>    - THE_XE (Kiểm tra trạng thái thẻ)</a:t>
            </a:r>
          </a:p>
          <a:p>
            <a:pPr>
              <a:spcAft>
                <a:spcPts val="300"/>
              </a:spcAft>
              <a:defRPr sz="1150">
                <a:solidFill>
                  <a:srgbClr val="0F172A"/>
                </a:solidFill>
                <a:latin typeface="Arial"/>
              </a:defRPr>
            </a:pPr>
            <a:r>
              <a:t>    - BAI_DO_XE (Đối chiếu sức chứa hiện tại)</a:t>
            </a:r>
          </a:p>
          <a:p>
            <a:pPr>
              <a:spcBef>
                <a:spcPts val="800"/>
              </a:spcBef>
              <a:spcAft>
                <a:spcPts val="400"/>
              </a:spcAft>
              <a:defRPr sz="1200" b="1">
                <a:solidFill>
                  <a:srgbClr val="0284C7"/>
                </a:solidFill>
                <a:latin typeface="Arial"/>
              </a:defRPr>
            </a:pPr>
            <a:r>
              <a:t>• Đối tượng T-SQL xử lý cốt lõi:</a:t>
            </a:r>
          </a:p>
          <a:p>
            <a:pPr>
              <a:defRPr sz="1150" b="1">
                <a:solidFill>
                  <a:srgbClr val="0F172A"/>
                </a:solidFill>
                <a:latin typeface="Arial"/>
              </a:defRPr>
            </a:pPr>
            <a:r>
              <a:t>    Trigger trg_KiemTraCheckIn (Throw Exception 50001 / 50002)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300" b="1">
                <a:solidFill>
                  <a:srgbClr val="0284C7"/>
                </a:solidFill>
                <a:latin typeface="Arial"/>
              </a:defRPr>
            </a:pPr>
            <a:r>
              <a:t>KỊCH BẢN DEMO #09 — TRIGGER-CHAN-VE-HET-HAN</a:t>
            </a:r>
          </a:p>
          <a:p>
            <a:pPr>
              <a:defRPr sz="2000" b="1">
                <a:solidFill>
                  <a:srgbClr val="0F172A"/>
                </a:solidFill>
                <a:latin typeface="Arial"/>
              </a:defRPr>
            </a:pPr>
            <a:r>
              <a:t>DEMO 09: Trigger Chặn Sử Dụng Vé Tháng Đã Quá Hạn</a:t>
            </a:r>
          </a:p>
        </p:txBody>
      </p:sp>
      <p:sp>
        <p:nvSpPr>
          <p:cNvPr id="3" name="Rounded Rectangle 2"/>
          <p:cNvSpPr/>
          <p:nvPr/>
        </p:nvSpPr>
        <p:spPr>
          <a:xfrm>
            <a:off x="73152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1508760"/>
            <a:ext cx="4723790" cy="4480560"/>
          </a:xfrm>
          <a:prstGeom prst="rect">
            <a:avLst/>
          </a:prstGeom>
          <a:noFill/>
        </p:spPr>
        <p:txBody>
          <a:bodyPr wrap="square" lIns="0" tIns="0" rIns="0" bIns="0">
            <a:spAutoFit/>
          </a:bodyPr>
          <a:lstStyle/>
          <a:p>
            <a:pPr>
              <a:spcAft>
                <a:spcPts val="1000"/>
              </a:spcAft>
              <a:defRPr sz="1500" b="1">
                <a:solidFill>
                  <a:srgbClr val="0284C7"/>
                </a:solidFill>
                <a:latin typeface="Arial"/>
              </a:defRPr>
            </a:pPr>
            <a:r>
              <a:t>🎯 BÀI TOÁN NGHIỆP VỤ</a:t>
            </a:r>
          </a:p>
          <a:p>
            <a:pPr>
              <a:lnSpc>
                <a:spcPct val="125000"/>
              </a:lnSpc>
              <a:defRPr sz="1250">
                <a:solidFill>
                  <a:srgbClr val="0F172A"/>
                </a:solidFill>
                <a:latin typeface="Arial"/>
              </a:defRPr>
            </a:pPr>
            <a:r>
              <a:t>Chủ xe quét thẻ tháng đã quá ngày hết hạn để vào bãi. Trigger kiểm tra vé hiện hành của thẻ, phát hiện hết hạn sẽ chặn mở barrier và tự động ROLLBACK giao dịch.</a:t>
            </a:r>
          </a:p>
        </p:txBody>
      </p:sp>
      <p:sp>
        <p:nvSpPr>
          <p:cNvPr id="5" name="Rounded Rectangle 4"/>
          <p:cNvSpPr/>
          <p:nvPr/>
        </p:nvSpPr>
        <p:spPr>
          <a:xfrm>
            <a:off x="627827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06870" y="1508760"/>
            <a:ext cx="4723790" cy="4480560"/>
          </a:xfrm>
          <a:prstGeom prst="rect">
            <a:avLst/>
          </a:prstGeom>
          <a:noFill/>
        </p:spPr>
        <p:txBody>
          <a:bodyPr wrap="square" lIns="0" tIns="0" rIns="0" bIns="0">
            <a:spAutoFit/>
          </a:bodyPr>
          <a:lstStyle/>
          <a:p>
            <a:pPr>
              <a:spcAft>
                <a:spcPts val="1000"/>
              </a:spcAft>
              <a:defRPr sz="1400" b="1">
                <a:solidFill>
                  <a:srgbClr val="0F172A"/>
                </a:solidFill>
                <a:latin typeface="Arial"/>
              </a:defRPr>
            </a:pPr>
            <a:r>
              <a:t>🗄️ CÁC BẢNG DỮ LIỆU &amp; ĐỐI TƯỢNG CSDL LIÊN QUAN</a:t>
            </a:r>
          </a:p>
          <a:p>
            <a:pPr>
              <a:spcAft>
                <a:spcPts val="400"/>
              </a:spcAft>
              <a:defRPr sz="1200" b="1">
                <a:solidFill>
                  <a:srgbClr val="0F172A"/>
                </a:solidFill>
                <a:latin typeface="Arial"/>
              </a:defRPr>
            </a:pPr>
            <a:r>
              <a:t>• Các bảng dữ liệu bị ảnh hưởng / truy vấn:</a:t>
            </a:r>
          </a:p>
          <a:p>
            <a:pPr>
              <a:spcAft>
                <a:spcPts val="300"/>
              </a:spcAft>
              <a:defRPr sz="1150">
                <a:solidFill>
                  <a:srgbClr val="0F172A"/>
                </a:solidFill>
                <a:latin typeface="Arial"/>
              </a:defRPr>
            </a:pPr>
            <a:r>
              <a:t>    - LUOT_GUI (Tự động ROLLBACK khi vi phạm)</a:t>
            </a:r>
          </a:p>
          <a:p>
            <a:pPr>
              <a:spcAft>
                <a:spcPts val="300"/>
              </a:spcAft>
              <a:defRPr sz="1150">
                <a:solidFill>
                  <a:srgbClr val="0F172A"/>
                </a:solidFill>
                <a:latin typeface="Arial"/>
              </a:defRPr>
            </a:pPr>
            <a:r>
              <a:t>    - VE_THANG (Đối chiếu ngày hết hạn vé hiện hành)</a:t>
            </a:r>
          </a:p>
          <a:p>
            <a:pPr>
              <a:spcBef>
                <a:spcPts val="800"/>
              </a:spcBef>
              <a:spcAft>
                <a:spcPts val="400"/>
              </a:spcAft>
              <a:defRPr sz="1200" b="1">
                <a:solidFill>
                  <a:srgbClr val="0284C7"/>
                </a:solidFill>
                <a:latin typeface="Arial"/>
              </a:defRPr>
            </a:pPr>
            <a:r>
              <a:t>• Đối tượng T-SQL xử lý cốt lõi:</a:t>
            </a:r>
          </a:p>
          <a:p>
            <a:pPr>
              <a:defRPr sz="1150" b="1">
                <a:solidFill>
                  <a:srgbClr val="0F172A"/>
                </a:solidFill>
                <a:latin typeface="Arial"/>
              </a:defRPr>
            </a:pPr>
            <a:r>
              <a:t>    Trigger trg_ChanSuDungVeHetHan + Function f_VeHienHanhCuaThe (Mã lỗi 50003)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300" b="1">
                <a:solidFill>
                  <a:srgbClr val="0284C7"/>
                </a:solidFill>
                <a:latin typeface="Arial"/>
              </a:defRPr>
            </a:pPr>
            <a:r>
              <a:t>KỊCH BẢN DEMO #10 — TRIGGER-CHAN-SAI-BAI</a:t>
            </a:r>
          </a:p>
          <a:p>
            <a:pPr>
              <a:defRPr sz="2000" b="1">
                <a:solidFill>
                  <a:srgbClr val="0F172A"/>
                </a:solidFill>
                <a:latin typeface="Arial"/>
              </a:defRPr>
            </a:pPr>
            <a:r>
              <a:t>DEMO 10: Trigger Chặn Vé Tháng Sử Dụng Sai Bãi Áp Dụng</a:t>
            </a:r>
          </a:p>
        </p:txBody>
      </p:sp>
      <p:sp>
        <p:nvSpPr>
          <p:cNvPr id="3" name="Rounded Rectangle 2"/>
          <p:cNvSpPr/>
          <p:nvPr/>
        </p:nvSpPr>
        <p:spPr>
          <a:xfrm>
            <a:off x="73152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1508760"/>
            <a:ext cx="4723790" cy="4480560"/>
          </a:xfrm>
          <a:prstGeom prst="rect">
            <a:avLst/>
          </a:prstGeom>
          <a:noFill/>
        </p:spPr>
        <p:txBody>
          <a:bodyPr wrap="square" lIns="0" tIns="0" rIns="0" bIns="0">
            <a:spAutoFit/>
          </a:bodyPr>
          <a:lstStyle/>
          <a:p>
            <a:pPr>
              <a:spcAft>
                <a:spcPts val="1000"/>
              </a:spcAft>
              <a:defRPr sz="1500" b="1">
                <a:solidFill>
                  <a:srgbClr val="0284C7"/>
                </a:solidFill>
                <a:latin typeface="Arial"/>
              </a:defRPr>
            </a:pPr>
            <a:r>
              <a:t>🎯 BÀI TOÁN NGHIỆP VỤ</a:t>
            </a:r>
          </a:p>
          <a:p>
            <a:pPr>
              <a:lnSpc>
                <a:spcPct val="125000"/>
              </a:lnSpc>
              <a:defRPr sz="1250">
                <a:solidFill>
                  <a:srgbClr val="0F172A"/>
                </a:solidFill>
                <a:latin typeface="Arial"/>
              </a:defRPr>
            </a:pPr>
            <a:r>
              <a:t>Chủ xe sử dụng vé tháng đăng ký cố định cho bãi đỗ khác (như Bãi Tân Bình) quẹt thẻ vào Bãi Quận 1. Trigger phát hiện sai bãi sẽ từ chối truy cập (trừ vé toàn chuỗi ALL).</a:t>
            </a:r>
          </a:p>
        </p:txBody>
      </p:sp>
      <p:sp>
        <p:nvSpPr>
          <p:cNvPr id="5" name="Rounded Rectangle 4"/>
          <p:cNvSpPr/>
          <p:nvPr/>
        </p:nvSpPr>
        <p:spPr>
          <a:xfrm>
            <a:off x="627827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06870" y="1508760"/>
            <a:ext cx="4723790" cy="4480560"/>
          </a:xfrm>
          <a:prstGeom prst="rect">
            <a:avLst/>
          </a:prstGeom>
          <a:noFill/>
        </p:spPr>
        <p:txBody>
          <a:bodyPr wrap="square" lIns="0" tIns="0" rIns="0" bIns="0">
            <a:spAutoFit/>
          </a:bodyPr>
          <a:lstStyle/>
          <a:p>
            <a:pPr>
              <a:spcAft>
                <a:spcPts val="1000"/>
              </a:spcAft>
              <a:defRPr sz="1400" b="1">
                <a:solidFill>
                  <a:srgbClr val="0F172A"/>
                </a:solidFill>
                <a:latin typeface="Arial"/>
              </a:defRPr>
            </a:pPr>
            <a:r>
              <a:t>🗄️ CÁC BẢNG DỮ LIỆU &amp; ĐỐI TƯỢNG CSDL LIÊN QUAN</a:t>
            </a:r>
          </a:p>
          <a:p>
            <a:pPr>
              <a:spcAft>
                <a:spcPts val="400"/>
              </a:spcAft>
              <a:defRPr sz="1200" b="1">
                <a:solidFill>
                  <a:srgbClr val="0F172A"/>
                </a:solidFill>
                <a:latin typeface="Arial"/>
              </a:defRPr>
            </a:pPr>
            <a:r>
              <a:t>• Các bảng dữ liệu bị ảnh hưởng / truy vấn:</a:t>
            </a:r>
          </a:p>
          <a:p>
            <a:pPr>
              <a:spcAft>
                <a:spcPts val="300"/>
              </a:spcAft>
              <a:defRPr sz="1150">
                <a:solidFill>
                  <a:srgbClr val="0F172A"/>
                </a:solidFill>
                <a:latin typeface="Arial"/>
              </a:defRPr>
            </a:pPr>
            <a:r>
              <a:t>    - LUOT_GUI (Ngăn chặn chèn lượt gửi sai bãi)</a:t>
            </a:r>
          </a:p>
          <a:p>
            <a:pPr>
              <a:spcAft>
                <a:spcPts val="300"/>
              </a:spcAft>
              <a:defRPr sz="1150">
                <a:solidFill>
                  <a:srgbClr val="0F172A"/>
                </a:solidFill>
                <a:latin typeface="Arial"/>
              </a:defRPr>
            </a:pPr>
            <a:r>
              <a:t>    - VE_THANG (Kiểm tra trường MaBaiApDung)</a:t>
            </a:r>
          </a:p>
          <a:p>
            <a:pPr>
              <a:spcAft>
                <a:spcPts val="300"/>
              </a:spcAft>
              <a:defRPr sz="1150">
                <a:solidFill>
                  <a:srgbClr val="0F172A"/>
                </a:solidFill>
                <a:latin typeface="Arial"/>
              </a:defRPr>
            </a:pPr>
            <a:r>
              <a:t>    - BAI_DO_XE (So khớp chi nhánh check-in)</a:t>
            </a:r>
          </a:p>
          <a:p>
            <a:pPr>
              <a:spcBef>
                <a:spcPts val="800"/>
              </a:spcBef>
              <a:spcAft>
                <a:spcPts val="400"/>
              </a:spcAft>
              <a:defRPr sz="1200" b="1">
                <a:solidFill>
                  <a:srgbClr val="0284C7"/>
                </a:solidFill>
                <a:latin typeface="Arial"/>
              </a:defRPr>
            </a:pPr>
            <a:r>
              <a:t>• Đối tượng T-SQL xử lý cốt lõi:</a:t>
            </a:r>
          </a:p>
          <a:p>
            <a:pPr>
              <a:defRPr sz="1150" b="1">
                <a:solidFill>
                  <a:srgbClr val="0F172A"/>
                </a:solidFill>
                <a:latin typeface="Arial"/>
              </a:defRPr>
            </a:pPr>
            <a:r>
              <a:t>    Trigger trg_KiemTraBaiApDungVeThang (Mã lỗi 50004)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533479"/>
          </a:xfrm>
          <a:prstGeom prst="rect">
            <a:avLst/>
          </a:prstGeom>
          <a:noFill/>
        </p:spPr>
        <p:txBody>
          <a:bodyPr wrap="square" lIns="0" tIns="0" rIns="0" bIns="0">
            <a:spAutoFit/>
          </a:bodyPr>
          <a:lstStyle/>
          <a:p>
            <a:pPr>
              <a:spcAft>
                <a:spcPts val="200"/>
              </a:spcAft>
              <a:defRPr sz="1300" b="1">
                <a:solidFill>
                  <a:srgbClr val="0284C7"/>
                </a:solidFill>
                <a:latin typeface="Arial"/>
              </a:defRPr>
            </a:pPr>
            <a:r>
              <a:rPr dirty="0"/>
              <a:t>KỊCH BẢN DEMO #11 — FUNCTION-TINH-TIEN-SLOT</a:t>
            </a:r>
          </a:p>
          <a:p>
            <a:pPr>
              <a:defRPr sz="2000" b="1">
                <a:solidFill>
                  <a:srgbClr val="0F172A"/>
                </a:solidFill>
                <a:latin typeface="Arial"/>
              </a:defRPr>
            </a:pPr>
            <a:r>
              <a:rPr dirty="0"/>
              <a:t>DEMO 11: Function </a:t>
            </a:r>
            <a:r>
              <a:rPr dirty="0" err="1"/>
              <a:t>Tính</a:t>
            </a:r>
            <a:r>
              <a:rPr dirty="0"/>
              <a:t> </a:t>
            </a:r>
            <a:r>
              <a:rPr dirty="0" err="1"/>
              <a:t>Phí</a:t>
            </a:r>
            <a:r>
              <a:rPr dirty="0"/>
              <a:t> </a:t>
            </a:r>
            <a:r>
              <a:rPr dirty="0" err="1"/>
              <a:t>Gửi</a:t>
            </a:r>
            <a:r>
              <a:rPr dirty="0"/>
              <a:t> &amp; </a:t>
            </a:r>
            <a:r>
              <a:rPr dirty="0" err="1"/>
              <a:t>Tìm</a:t>
            </a:r>
            <a:r>
              <a:rPr dirty="0"/>
              <a:t> </a:t>
            </a:r>
            <a:r>
              <a:rPr dirty="0" err="1"/>
              <a:t>Ô</a:t>
            </a:r>
            <a:r>
              <a:rPr dirty="0"/>
              <a:t> </a:t>
            </a:r>
            <a:r>
              <a:rPr dirty="0" err="1"/>
              <a:t>Trống</a:t>
            </a:r>
            <a:r>
              <a:rPr lang="en-US" dirty="0"/>
              <a:t> </a:t>
            </a:r>
            <a:r>
              <a:rPr lang="en-US" dirty="0" err="1"/>
              <a:t>Tự</a:t>
            </a:r>
            <a:r>
              <a:rPr lang="en-US" dirty="0"/>
              <a:t> </a:t>
            </a:r>
            <a:r>
              <a:rPr lang="en-US" dirty="0" err="1"/>
              <a:t>Động</a:t>
            </a:r>
            <a:endParaRPr dirty="0"/>
          </a:p>
        </p:txBody>
      </p:sp>
      <p:sp>
        <p:nvSpPr>
          <p:cNvPr id="3" name="Rounded Rectangle 2"/>
          <p:cNvSpPr/>
          <p:nvPr/>
        </p:nvSpPr>
        <p:spPr>
          <a:xfrm>
            <a:off x="73152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1508760"/>
            <a:ext cx="4723790" cy="4480560"/>
          </a:xfrm>
          <a:prstGeom prst="rect">
            <a:avLst/>
          </a:prstGeom>
          <a:noFill/>
        </p:spPr>
        <p:txBody>
          <a:bodyPr wrap="square" lIns="0" tIns="0" rIns="0" bIns="0">
            <a:spAutoFit/>
          </a:bodyPr>
          <a:lstStyle/>
          <a:p>
            <a:pPr>
              <a:spcAft>
                <a:spcPts val="1000"/>
              </a:spcAft>
              <a:defRPr sz="1500" b="1">
                <a:solidFill>
                  <a:srgbClr val="0284C7"/>
                </a:solidFill>
                <a:latin typeface="Arial"/>
              </a:defRPr>
            </a:pPr>
            <a:r>
              <a:t>🎯 BÀI TOÁN NGHIỆP VỤ</a:t>
            </a:r>
          </a:p>
          <a:p>
            <a:pPr>
              <a:lnSpc>
                <a:spcPct val="125000"/>
              </a:lnSpc>
              <a:defRPr sz="1250">
                <a:solidFill>
                  <a:srgbClr val="0F172A"/>
                </a:solidFill>
                <a:latin typeface="Arial"/>
              </a:defRPr>
            </a:pPr>
            <a:r>
              <a:t>Cung cấp các hàm tính toán linh hoạt: tính tiền gửi xe theo block giờ (miễn phí đỗ &lt;15 phút), tự động định tuyến tìm ô đỗ trống theo loại xe và lấy danh sách xe đang trong bãi.</a:t>
            </a:r>
          </a:p>
        </p:txBody>
      </p:sp>
      <p:sp>
        <p:nvSpPr>
          <p:cNvPr id="5" name="Rounded Rectangle 4"/>
          <p:cNvSpPr/>
          <p:nvPr/>
        </p:nvSpPr>
        <p:spPr>
          <a:xfrm>
            <a:off x="627827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06870" y="1508760"/>
            <a:ext cx="4723790" cy="4480560"/>
          </a:xfrm>
          <a:prstGeom prst="rect">
            <a:avLst/>
          </a:prstGeom>
          <a:noFill/>
        </p:spPr>
        <p:txBody>
          <a:bodyPr wrap="square" lIns="0" tIns="0" rIns="0" bIns="0">
            <a:spAutoFit/>
          </a:bodyPr>
          <a:lstStyle/>
          <a:p>
            <a:pPr>
              <a:spcAft>
                <a:spcPts val="1000"/>
              </a:spcAft>
              <a:defRPr sz="1400" b="1">
                <a:solidFill>
                  <a:srgbClr val="0F172A"/>
                </a:solidFill>
                <a:latin typeface="Arial"/>
              </a:defRPr>
            </a:pPr>
            <a:r>
              <a:t>🗄️ CÁC BẢNG DỮ LIỆU &amp; ĐỐI TƯỢNG CSDL LIÊN QUAN</a:t>
            </a:r>
          </a:p>
          <a:p>
            <a:pPr>
              <a:spcAft>
                <a:spcPts val="400"/>
              </a:spcAft>
              <a:defRPr sz="1200" b="1">
                <a:solidFill>
                  <a:srgbClr val="0F172A"/>
                </a:solidFill>
                <a:latin typeface="Arial"/>
              </a:defRPr>
            </a:pPr>
            <a:r>
              <a:t>• Các bảng dữ liệu bị ảnh hưởng / truy vấn:</a:t>
            </a:r>
          </a:p>
          <a:p>
            <a:pPr>
              <a:spcAft>
                <a:spcPts val="300"/>
              </a:spcAft>
              <a:defRPr sz="1150">
                <a:solidFill>
                  <a:srgbClr val="0F172A"/>
                </a:solidFill>
                <a:latin typeface="Arial"/>
              </a:defRPr>
            </a:pPr>
            <a:r>
              <a:t>    - LOAI_XE (Đơn giá giờ theo loại xe &amp; bãi)</a:t>
            </a:r>
          </a:p>
          <a:p>
            <a:pPr>
              <a:spcAft>
                <a:spcPts val="300"/>
              </a:spcAft>
              <a:defRPr sz="1150">
                <a:solidFill>
                  <a:srgbClr val="0F172A"/>
                </a:solidFill>
                <a:latin typeface="Arial"/>
              </a:defRPr>
            </a:pPr>
            <a:r>
              <a:t>    - VI_TRI_DO (Danh sách trạng thái ô đỗ)</a:t>
            </a:r>
          </a:p>
          <a:p>
            <a:pPr>
              <a:spcAft>
                <a:spcPts val="300"/>
              </a:spcAft>
              <a:defRPr sz="1150">
                <a:solidFill>
                  <a:srgbClr val="0F172A"/>
                </a:solidFill>
                <a:latin typeface="Arial"/>
              </a:defRPr>
            </a:pPr>
            <a:r>
              <a:t>    - LUOT_GUI (Thời gian gửi thực tế)</a:t>
            </a:r>
          </a:p>
          <a:p>
            <a:pPr>
              <a:spcBef>
                <a:spcPts val="800"/>
              </a:spcBef>
              <a:spcAft>
                <a:spcPts val="400"/>
              </a:spcAft>
              <a:defRPr sz="1200" b="1">
                <a:solidFill>
                  <a:srgbClr val="0284C7"/>
                </a:solidFill>
                <a:latin typeface="Arial"/>
              </a:defRPr>
            </a:pPr>
            <a:r>
              <a:t>• Đối tượng T-SQL xử lý cốt lõi:</a:t>
            </a:r>
          </a:p>
          <a:p>
            <a:pPr>
              <a:defRPr sz="1150" b="1">
                <a:solidFill>
                  <a:srgbClr val="0F172A"/>
                </a:solidFill>
                <a:latin typeface="Arial"/>
              </a:defRPr>
            </a:pPr>
            <a:r>
              <a:t>    Scalar Function f_TinhTienGuiXe + f_TimSlotTrong + Table-Valued Function f_DanhSachXeTrongBai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300" b="1">
                <a:solidFill>
                  <a:srgbClr val="0284C7"/>
                </a:solidFill>
                <a:latin typeface="Arial"/>
              </a:defRPr>
            </a:pPr>
            <a:r>
              <a:t>KỊCH BẢN DEMO #12 — CURSOR-CANH-BAO-DOANH-THU</a:t>
            </a:r>
          </a:p>
          <a:p>
            <a:pPr>
              <a:defRPr sz="2000" b="1">
                <a:solidFill>
                  <a:srgbClr val="0F172A"/>
                </a:solidFill>
                <a:latin typeface="Arial"/>
              </a:defRPr>
            </a:pPr>
            <a:r>
              <a:t>DEMO 12: Cursor Hàng Ngày Cảnh Báo Hạn Vé &amp; Tổng Kết Doanh Thu</a:t>
            </a:r>
          </a:p>
        </p:txBody>
      </p:sp>
      <p:sp>
        <p:nvSpPr>
          <p:cNvPr id="3" name="Rounded Rectangle 2"/>
          <p:cNvSpPr/>
          <p:nvPr/>
        </p:nvSpPr>
        <p:spPr>
          <a:xfrm>
            <a:off x="73152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1508760"/>
            <a:ext cx="4723790" cy="4480560"/>
          </a:xfrm>
          <a:prstGeom prst="rect">
            <a:avLst/>
          </a:prstGeom>
          <a:noFill/>
        </p:spPr>
        <p:txBody>
          <a:bodyPr wrap="square" lIns="0" tIns="0" rIns="0" bIns="0">
            <a:spAutoFit/>
          </a:bodyPr>
          <a:lstStyle/>
          <a:p>
            <a:pPr>
              <a:spcAft>
                <a:spcPts val="1000"/>
              </a:spcAft>
              <a:defRPr sz="1500" b="1">
                <a:solidFill>
                  <a:srgbClr val="0284C7"/>
                </a:solidFill>
                <a:latin typeface="Arial"/>
              </a:defRPr>
            </a:pPr>
            <a:r>
              <a:t>🎯 BÀI TOÁN NGHIỆP VỤ</a:t>
            </a:r>
          </a:p>
          <a:p>
            <a:pPr>
              <a:lnSpc>
                <a:spcPct val="125000"/>
              </a:lnSpc>
              <a:defRPr sz="1250">
                <a:solidFill>
                  <a:srgbClr val="0F172A"/>
                </a:solidFill>
                <a:latin typeface="Arial"/>
              </a:defRPr>
            </a:pPr>
            <a:r>
              <a:t>Tự động chạy hàng ngày: duyệt từng vé tháng để chuyển trạng thái vé quá hạn sang 'Hết hạn', gửi thông báo cho vé sắp hết hạn (&lt;= 3 ngày) và tổng hợp báo cáo tài chính chuỗi.</a:t>
            </a:r>
          </a:p>
        </p:txBody>
      </p:sp>
      <p:sp>
        <p:nvSpPr>
          <p:cNvPr id="5" name="Rounded Rectangle 4"/>
          <p:cNvSpPr/>
          <p:nvPr/>
        </p:nvSpPr>
        <p:spPr>
          <a:xfrm>
            <a:off x="6278270" y="1280160"/>
            <a:ext cx="5180990" cy="493776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06870" y="1508760"/>
            <a:ext cx="4723790" cy="4480560"/>
          </a:xfrm>
          <a:prstGeom prst="rect">
            <a:avLst/>
          </a:prstGeom>
          <a:noFill/>
        </p:spPr>
        <p:txBody>
          <a:bodyPr wrap="square" lIns="0" tIns="0" rIns="0" bIns="0">
            <a:spAutoFit/>
          </a:bodyPr>
          <a:lstStyle/>
          <a:p>
            <a:pPr>
              <a:spcAft>
                <a:spcPts val="1000"/>
              </a:spcAft>
              <a:defRPr sz="1400" b="1">
                <a:solidFill>
                  <a:srgbClr val="0F172A"/>
                </a:solidFill>
                <a:latin typeface="Arial"/>
              </a:defRPr>
            </a:pPr>
            <a:r>
              <a:t>🗄️ CÁC BẢNG DỮ LIỆU &amp; ĐỐI TƯỢNG CSDL LIÊN QUAN</a:t>
            </a:r>
          </a:p>
          <a:p>
            <a:pPr>
              <a:spcAft>
                <a:spcPts val="400"/>
              </a:spcAft>
              <a:defRPr sz="1200" b="1">
                <a:solidFill>
                  <a:srgbClr val="0F172A"/>
                </a:solidFill>
                <a:latin typeface="Arial"/>
              </a:defRPr>
            </a:pPr>
            <a:r>
              <a:t>• Các bảng dữ liệu bị ảnh hưởng / truy vấn:</a:t>
            </a:r>
          </a:p>
          <a:p>
            <a:pPr>
              <a:spcAft>
                <a:spcPts val="300"/>
              </a:spcAft>
              <a:defRPr sz="1150">
                <a:solidFill>
                  <a:srgbClr val="0F172A"/>
                </a:solidFill>
                <a:latin typeface="Arial"/>
              </a:defRPr>
            </a:pPr>
            <a:r>
              <a:t>    - VE_THANG (Chuyển trạng thái vé hết hạn)</a:t>
            </a:r>
          </a:p>
          <a:p>
            <a:pPr>
              <a:spcAft>
                <a:spcPts val="300"/>
              </a:spcAft>
              <a:defRPr sz="1150">
                <a:solidFill>
                  <a:srgbClr val="0F172A"/>
                </a:solidFill>
                <a:latin typeface="Arial"/>
              </a:defRPr>
            </a:pPr>
            <a:r>
              <a:t>    - THONG_BAO (Ghi nhận thông báo gửi khách)</a:t>
            </a:r>
          </a:p>
          <a:p>
            <a:pPr>
              <a:spcAft>
                <a:spcPts val="300"/>
              </a:spcAft>
              <a:defRPr sz="1150">
                <a:solidFill>
                  <a:srgbClr val="0F172A"/>
                </a:solidFill>
                <a:latin typeface="Arial"/>
              </a:defRPr>
            </a:pPr>
            <a:r>
              <a:t>    - HOA_DON_VE_THANG (Thống kê doanh thu gia hạn)</a:t>
            </a:r>
          </a:p>
          <a:p>
            <a:pPr>
              <a:spcAft>
                <a:spcPts val="300"/>
              </a:spcAft>
              <a:defRPr sz="1150">
                <a:solidFill>
                  <a:srgbClr val="0F172A"/>
                </a:solidFill>
                <a:latin typeface="Arial"/>
              </a:defRPr>
            </a:pPr>
            <a:r>
              <a:t>    - BAI_DO_XE (Thống kê doanh thu theo chi nhánh)</a:t>
            </a:r>
          </a:p>
          <a:p>
            <a:pPr>
              <a:spcBef>
                <a:spcPts val="800"/>
              </a:spcBef>
              <a:spcAft>
                <a:spcPts val="400"/>
              </a:spcAft>
              <a:defRPr sz="1200" b="1">
                <a:solidFill>
                  <a:srgbClr val="0284C7"/>
                </a:solidFill>
                <a:latin typeface="Arial"/>
              </a:defRPr>
            </a:pPr>
            <a:r>
              <a:t>• Đối tượng T-SQL xử lý cốt lõi:</a:t>
            </a:r>
          </a:p>
          <a:p>
            <a:pPr>
              <a:defRPr sz="1150" b="1">
                <a:solidFill>
                  <a:srgbClr val="0F172A"/>
                </a:solidFill>
                <a:latin typeface="Arial"/>
              </a:defRPr>
            </a:pPr>
            <a:r>
              <a:t>    Cursor Procedure sp_DemoCanhBaoHanTheThang &amp; sp_DemoTongKetDoanhThuChuoi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TotalTime>
  <Words>3789</Words>
  <Application>Microsoft Macintosh PowerPoint</Application>
  <PresentationFormat>Widescreen</PresentationFormat>
  <Paragraphs>283</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Lê Thanh Tú</cp:lastModifiedBy>
  <cp:revision>7</cp:revision>
  <dcterms:created xsi:type="dcterms:W3CDTF">2013-01-27T09:14:16Z</dcterms:created>
  <dcterms:modified xsi:type="dcterms:W3CDTF">2026-10-12T15:00:25Z</dcterms:modified>
  <cp:category/>
</cp:coreProperties>
</file>