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snapToObjects="1">
      <p:cViewPr>
        <p:scale>
          <a:sx n="97" d="100"/>
          <a:sy n="97" d="100"/>
        </p:scale>
        <p:origin x="1704" y="68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728655" cy="482183"/>
          </a:xfrm>
          <a:prstGeom prst="rect">
            <a:avLst/>
          </a:prstGeom>
          <a:noFill/>
        </p:spPr>
        <p:txBody>
          <a:bodyPr wrap="square" lIns="0" tIns="0" rIns="0" bIns="0">
            <a:spAutoFit/>
          </a:bodyPr>
          <a:lstStyle/>
          <a:p>
            <a:pPr algn="ctr">
              <a:spcAft>
                <a:spcPts val="400"/>
              </a:spcAft>
              <a:defRPr sz="1500" b="1">
                <a:solidFill>
                  <a:srgbClr val="38BDF8"/>
                </a:solidFill>
                <a:latin typeface="Arial"/>
              </a:defRPr>
            </a:pPr>
            <a:r>
              <a:rPr dirty="0"/>
              <a:t>TRƯỜNG ĐẠI HỌC CÔNG NGHỆ THÔNG TIN — ĐHQG TP.HCM</a:t>
            </a:r>
          </a:p>
          <a:p>
            <a:pPr algn="ctr">
              <a:defRPr sz="1300">
                <a:solidFill>
                  <a:srgbClr val="94A3B8"/>
                </a:solidFill>
                <a:latin typeface="Arial"/>
              </a:defRPr>
            </a:pPr>
            <a:r>
              <a:rPr dirty="0">
                <a:solidFill>
                  <a:schemeClr val="bg1"/>
                </a:solidFill>
              </a:rPr>
              <a:t>BÁO CÁO ĐỒ ÁN MÔN HỌC: QUẢN LÝ THÔNG TIN (IE103.F31.CN1.CNTT)</a:t>
            </a:r>
          </a:p>
        </p:txBody>
      </p:sp>
      <p:sp>
        <p:nvSpPr>
          <p:cNvPr id="3" name="Rounded Rectangle 2"/>
          <p:cNvSpPr/>
          <p:nvPr/>
        </p:nvSpPr>
        <p:spPr>
          <a:xfrm>
            <a:off x="731520" y="1463040"/>
            <a:ext cx="10728655" cy="2103120"/>
          </a:xfrm>
          <a:prstGeom prst="roundRect">
            <a:avLst>
              <a:gd name="adj" fmla="val 15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800"/>
              </a:spcAft>
              <a:defRPr sz="2800" b="1">
                <a:solidFill>
                  <a:srgbClr val="FFFFFF"/>
                </a:solidFill>
                <a:latin typeface="Arial"/>
              </a:defRPr>
            </a:pPr>
            <a:r>
              <a:rPr dirty="0"/>
              <a:t>ĐỀ TÀI: HỆ THỐNG QUẢN LÝ CHUỖI BÃI ĐỖ XE</a:t>
            </a:r>
          </a:p>
        </p:txBody>
      </p:sp>
      <p:sp>
        <p:nvSpPr>
          <p:cNvPr id="4" name="Rounded Rectangle 3"/>
          <p:cNvSpPr/>
          <p:nvPr/>
        </p:nvSpPr>
        <p:spPr>
          <a:xfrm>
            <a:off x="731520" y="3840480"/>
            <a:ext cx="5180990" cy="2011680"/>
          </a:xfrm>
          <a:prstGeom prst="roundRect">
            <a:avLst>
              <a:gd name="adj" fmla="val 2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05840" y="4023360"/>
            <a:ext cx="4632350" cy="600164"/>
          </a:xfrm>
          <a:prstGeom prst="rect">
            <a:avLst/>
          </a:prstGeom>
          <a:noFill/>
        </p:spPr>
        <p:txBody>
          <a:bodyPr wrap="square" lIns="0" tIns="0" rIns="0" bIns="0">
            <a:spAutoFit/>
          </a:bodyPr>
          <a:lstStyle/>
          <a:p>
            <a:pPr>
              <a:spcAft>
                <a:spcPts val="600"/>
              </a:spcAft>
              <a:defRPr sz="1200" b="1">
                <a:solidFill>
                  <a:srgbClr val="38BDF8"/>
                </a:solidFill>
                <a:latin typeface="Arial"/>
              </a:defRPr>
            </a:pPr>
            <a:r>
              <a:rPr dirty="0"/>
              <a:t>THỰC HIỆN</a:t>
            </a:r>
          </a:p>
          <a:p>
            <a:pPr>
              <a:spcAft>
                <a:spcPts val="400"/>
              </a:spcAft>
              <a:defRPr sz="2200" b="1">
                <a:solidFill>
                  <a:srgbClr val="FFFFFF"/>
                </a:solidFill>
                <a:latin typeface="Arial"/>
              </a:defRPr>
            </a:pPr>
            <a:r>
              <a:rPr dirty="0"/>
              <a:t>NHÓM 4</a:t>
            </a:r>
          </a:p>
        </p:txBody>
      </p:sp>
      <p:sp>
        <p:nvSpPr>
          <p:cNvPr id="6" name="Rounded Rectangle 5"/>
          <p:cNvSpPr/>
          <p:nvPr/>
        </p:nvSpPr>
        <p:spPr>
          <a:xfrm>
            <a:off x="6278270" y="3840480"/>
            <a:ext cx="5180990" cy="2011680"/>
          </a:xfrm>
          <a:prstGeom prst="roundRect">
            <a:avLst>
              <a:gd name="adj" fmla="val 2000"/>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52590" y="4023360"/>
            <a:ext cx="4632350" cy="600164"/>
          </a:xfrm>
          <a:prstGeom prst="rect">
            <a:avLst/>
          </a:prstGeom>
          <a:noFill/>
        </p:spPr>
        <p:txBody>
          <a:bodyPr wrap="square" lIns="0" tIns="0" rIns="0" bIns="0">
            <a:spAutoFit/>
          </a:bodyPr>
          <a:lstStyle/>
          <a:p>
            <a:pPr>
              <a:spcAft>
                <a:spcPts val="600"/>
              </a:spcAft>
              <a:defRPr sz="1200" b="1">
                <a:solidFill>
                  <a:srgbClr val="38BDF8"/>
                </a:solidFill>
                <a:latin typeface="Arial"/>
              </a:defRPr>
            </a:pPr>
            <a:r>
              <a:rPr dirty="0"/>
              <a:t>GIẢNG VIÊN HƯỚNG DẪN</a:t>
            </a:r>
          </a:p>
          <a:p>
            <a:pPr>
              <a:spcAft>
                <a:spcPts val="400"/>
              </a:spcAft>
              <a:defRPr sz="2200" b="1">
                <a:solidFill>
                  <a:srgbClr val="FFFFFF"/>
                </a:solidFill>
                <a:latin typeface="Arial"/>
              </a:defRPr>
            </a:pPr>
            <a:r>
              <a:rPr dirty="0"/>
              <a:t>NGUYỄN THANH LUÂN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400"/>
              </a:spcAft>
              <a:defRPr sz="2200" b="1">
                <a:solidFill>
                  <a:srgbClr val="0F172A"/>
                </a:solidFill>
                <a:latin typeface="Arial"/>
              </a:defRPr>
            </a:pPr>
            <a:r>
              <a:t>THÀNH VIÊN DỰ ÁN — NHÓM 4</a:t>
            </a:r>
          </a:p>
          <a:p>
            <a:pPr>
              <a:defRPr sz="1300">
                <a:solidFill>
                  <a:srgbClr val="475569"/>
                </a:solidFill>
                <a:latin typeface="Arial"/>
              </a:defRPr>
            </a:pPr>
            <a:r>
              <a:t>Danh Sách 10 Thành Viên Tham Gia Xây Dựng &amp; Thực Hiện Đồ Án Quản Lý Thông Tin</a:t>
            </a:r>
          </a:p>
        </p:txBody>
      </p:sp>
      <p:sp>
        <p:nvSpPr>
          <p:cNvPr id="3" name="Rounded Rectangle 2"/>
          <p:cNvSpPr/>
          <p:nvPr/>
        </p:nvSpPr>
        <p:spPr>
          <a:xfrm>
            <a:off x="731520"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31520"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01</a:t>
            </a:r>
          </a:p>
        </p:txBody>
      </p:sp>
      <p:sp>
        <p:nvSpPr>
          <p:cNvPr id="5" name="TextBox 4"/>
          <p:cNvSpPr txBox="1"/>
          <p:nvPr/>
        </p:nvSpPr>
        <p:spPr>
          <a:xfrm>
            <a:off x="841248"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25730083</a:t>
            </a:r>
          </a:p>
          <a:p>
            <a:pPr>
              <a:defRPr sz="1300" b="1">
                <a:solidFill>
                  <a:srgbClr val="0F172A"/>
                </a:solidFill>
                <a:latin typeface="Arial"/>
              </a:defRPr>
            </a:pPr>
            <a:r>
              <a:t>Ngô Võ Xuân Trường</a:t>
            </a:r>
          </a:p>
        </p:txBody>
      </p:sp>
      <p:sp>
        <p:nvSpPr>
          <p:cNvPr id="6" name="Rounded Rectangle 5"/>
          <p:cNvSpPr/>
          <p:nvPr/>
        </p:nvSpPr>
        <p:spPr>
          <a:xfrm>
            <a:off x="2907792"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907792"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02</a:t>
            </a:r>
          </a:p>
        </p:txBody>
      </p:sp>
      <p:sp>
        <p:nvSpPr>
          <p:cNvPr id="8" name="TextBox 7"/>
          <p:cNvSpPr txBox="1"/>
          <p:nvPr/>
        </p:nvSpPr>
        <p:spPr>
          <a:xfrm>
            <a:off x="3017520"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25730084</a:t>
            </a:r>
          </a:p>
          <a:p>
            <a:pPr>
              <a:defRPr sz="1300" b="1">
                <a:solidFill>
                  <a:srgbClr val="0F172A"/>
                </a:solidFill>
                <a:latin typeface="Arial"/>
              </a:defRPr>
            </a:pPr>
            <a:r>
              <a:t>Lê Thanh Tú</a:t>
            </a:r>
          </a:p>
        </p:txBody>
      </p:sp>
      <p:sp>
        <p:nvSpPr>
          <p:cNvPr id="9" name="Rounded Rectangle 8"/>
          <p:cNvSpPr/>
          <p:nvPr/>
        </p:nvSpPr>
        <p:spPr>
          <a:xfrm>
            <a:off x="5084064"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84064"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03</a:t>
            </a:r>
          </a:p>
        </p:txBody>
      </p:sp>
      <p:sp>
        <p:nvSpPr>
          <p:cNvPr id="11" name="TextBox 10"/>
          <p:cNvSpPr txBox="1"/>
          <p:nvPr/>
        </p:nvSpPr>
        <p:spPr>
          <a:xfrm>
            <a:off x="5193792"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25730085</a:t>
            </a:r>
          </a:p>
          <a:p>
            <a:pPr>
              <a:defRPr sz="1300" b="1">
                <a:solidFill>
                  <a:srgbClr val="0F172A"/>
                </a:solidFill>
                <a:latin typeface="Arial"/>
              </a:defRPr>
            </a:pPr>
            <a:r>
              <a:t>Nguyễn Văn Anh Tú</a:t>
            </a:r>
          </a:p>
        </p:txBody>
      </p:sp>
      <p:sp>
        <p:nvSpPr>
          <p:cNvPr id="12" name="Rounded Rectangle 11"/>
          <p:cNvSpPr/>
          <p:nvPr/>
        </p:nvSpPr>
        <p:spPr>
          <a:xfrm>
            <a:off x="7260336"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7260336"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04</a:t>
            </a:r>
          </a:p>
        </p:txBody>
      </p:sp>
      <p:sp>
        <p:nvSpPr>
          <p:cNvPr id="14" name="TextBox 13"/>
          <p:cNvSpPr txBox="1"/>
          <p:nvPr/>
        </p:nvSpPr>
        <p:spPr>
          <a:xfrm>
            <a:off x="7370064"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25730078</a:t>
            </a:r>
          </a:p>
          <a:p>
            <a:pPr>
              <a:defRPr sz="1300" b="1">
                <a:solidFill>
                  <a:srgbClr val="0F172A"/>
                </a:solidFill>
                <a:latin typeface="Arial"/>
              </a:defRPr>
            </a:pPr>
            <a:r>
              <a:t>Nguyễn Đông Triều</a:t>
            </a:r>
          </a:p>
        </p:txBody>
      </p:sp>
      <p:sp>
        <p:nvSpPr>
          <p:cNvPr id="15" name="Rounded Rectangle 14"/>
          <p:cNvSpPr/>
          <p:nvPr/>
        </p:nvSpPr>
        <p:spPr>
          <a:xfrm>
            <a:off x="9436608" y="137160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9436608" y="137160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05</a:t>
            </a:r>
          </a:p>
        </p:txBody>
      </p:sp>
      <p:sp>
        <p:nvSpPr>
          <p:cNvPr id="17" name="TextBox 16"/>
          <p:cNvSpPr txBox="1"/>
          <p:nvPr/>
        </p:nvSpPr>
        <p:spPr>
          <a:xfrm>
            <a:off x="9546336" y="187452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25730087</a:t>
            </a:r>
          </a:p>
          <a:p>
            <a:pPr>
              <a:defRPr sz="1300" b="1">
                <a:solidFill>
                  <a:srgbClr val="0F172A"/>
                </a:solidFill>
                <a:latin typeface="Arial"/>
              </a:defRPr>
            </a:pPr>
            <a:r>
              <a:t>Quách Anh Tuấn</a:t>
            </a:r>
          </a:p>
        </p:txBody>
      </p:sp>
      <p:sp>
        <p:nvSpPr>
          <p:cNvPr id="18" name="Rounded Rectangle 17"/>
          <p:cNvSpPr/>
          <p:nvPr/>
        </p:nvSpPr>
        <p:spPr>
          <a:xfrm>
            <a:off x="731520"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31520"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06</a:t>
            </a:r>
          </a:p>
        </p:txBody>
      </p:sp>
      <p:sp>
        <p:nvSpPr>
          <p:cNvPr id="20" name="TextBox 19"/>
          <p:cNvSpPr txBox="1"/>
          <p:nvPr/>
        </p:nvSpPr>
        <p:spPr>
          <a:xfrm>
            <a:off x="841248"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25730082</a:t>
            </a:r>
          </a:p>
          <a:p>
            <a:pPr>
              <a:defRPr sz="1300" b="1">
                <a:solidFill>
                  <a:srgbClr val="0F172A"/>
                </a:solidFill>
                <a:latin typeface="Arial"/>
              </a:defRPr>
            </a:pPr>
            <a:r>
              <a:t>Võ Trần Trung</a:t>
            </a:r>
          </a:p>
        </p:txBody>
      </p:sp>
      <p:sp>
        <p:nvSpPr>
          <p:cNvPr id="21" name="Rounded Rectangle 20"/>
          <p:cNvSpPr/>
          <p:nvPr/>
        </p:nvSpPr>
        <p:spPr>
          <a:xfrm>
            <a:off x="2907792"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907792"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07</a:t>
            </a:r>
          </a:p>
        </p:txBody>
      </p:sp>
      <p:sp>
        <p:nvSpPr>
          <p:cNvPr id="23" name="TextBox 22"/>
          <p:cNvSpPr txBox="1"/>
          <p:nvPr/>
        </p:nvSpPr>
        <p:spPr>
          <a:xfrm>
            <a:off x="3017520"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24730055</a:t>
            </a:r>
          </a:p>
          <a:p>
            <a:pPr>
              <a:defRPr sz="1300" b="1">
                <a:solidFill>
                  <a:srgbClr val="0F172A"/>
                </a:solidFill>
                <a:latin typeface="Arial"/>
              </a:defRPr>
            </a:pPr>
            <a:r>
              <a:t>Đặng Hồng Phong</a:t>
            </a:r>
          </a:p>
        </p:txBody>
      </p:sp>
      <p:sp>
        <p:nvSpPr>
          <p:cNvPr id="24" name="Rounded Rectangle 23"/>
          <p:cNvSpPr/>
          <p:nvPr/>
        </p:nvSpPr>
        <p:spPr>
          <a:xfrm>
            <a:off x="5084064"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84064"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08</a:t>
            </a:r>
          </a:p>
        </p:txBody>
      </p:sp>
      <p:sp>
        <p:nvSpPr>
          <p:cNvPr id="26" name="TextBox 25"/>
          <p:cNvSpPr txBox="1"/>
          <p:nvPr/>
        </p:nvSpPr>
        <p:spPr>
          <a:xfrm>
            <a:off x="5193792"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25730095</a:t>
            </a:r>
          </a:p>
          <a:p>
            <a:pPr>
              <a:defRPr sz="1300" b="1">
                <a:solidFill>
                  <a:srgbClr val="0F172A"/>
                </a:solidFill>
                <a:latin typeface="Arial"/>
              </a:defRPr>
            </a:pPr>
            <a:r>
              <a:t>Nguyễn Đăng Khôi</a:t>
            </a:r>
          </a:p>
        </p:txBody>
      </p:sp>
      <p:sp>
        <p:nvSpPr>
          <p:cNvPr id="27" name="Rounded Rectangle 26"/>
          <p:cNvSpPr/>
          <p:nvPr/>
        </p:nvSpPr>
        <p:spPr>
          <a:xfrm>
            <a:off x="7260336"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260336"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09</a:t>
            </a:r>
          </a:p>
        </p:txBody>
      </p:sp>
      <p:sp>
        <p:nvSpPr>
          <p:cNvPr id="29" name="TextBox 28"/>
          <p:cNvSpPr txBox="1"/>
          <p:nvPr/>
        </p:nvSpPr>
        <p:spPr>
          <a:xfrm>
            <a:off x="7370064"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23210291</a:t>
            </a:r>
          </a:p>
          <a:p>
            <a:pPr>
              <a:defRPr sz="1300" b="1">
                <a:solidFill>
                  <a:srgbClr val="0F172A"/>
                </a:solidFill>
                <a:latin typeface="Arial"/>
              </a:defRPr>
            </a:pPr>
            <a:r>
              <a:t>Trần Thủy Tiên</a:t>
            </a:r>
          </a:p>
        </p:txBody>
      </p:sp>
      <p:sp>
        <p:nvSpPr>
          <p:cNvPr id="30" name="Rounded Rectangle 29"/>
          <p:cNvSpPr/>
          <p:nvPr/>
        </p:nvSpPr>
        <p:spPr>
          <a:xfrm>
            <a:off x="9436608" y="3749040"/>
            <a:ext cx="1993392" cy="214884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9436608" y="3749040"/>
            <a:ext cx="1993392" cy="384048"/>
          </a:xfrm>
          <a:prstGeom prst="roundRect">
            <a:avLst>
              <a:gd name="adj" fmla="val 3000"/>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1100" b="1">
                <a:solidFill>
                  <a:srgbClr val="FFFFFF"/>
                </a:solidFill>
                <a:latin typeface="Arial"/>
              </a:defRPr>
            </a:pPr>
            <a:r>
              <a:t>THÀNH VIÊN 10</a:t>
            </a:r>
          </a:p>
        </p:txBody>
      </p:sp>
      <p:sp>
        <p:nvSpPr>
          <p:cNvPr id="32" name="TextBox 31"/>
          <p:cNvSpPr txBox="1"/>
          <p:nvPr/>
        </p:nvSpPr>
        <p:spPr>
          <a:xfrm>
            <a:off x="9546336" y="4251960"/>
            <a:ext cx="1773936" cy="1554480"/>
          </a:xfrm>
          <a:prstGeom prst="rect">
            <a:avLst/>
          </a:prstGeom>
          <a:noFill/>
        </p:spPr>
        <p:txBody>
          <a:bodyPr wrap="square" lIns="0" tIns="0" rIns="0" bIns="0">
            <a:spAutoFit/>
          </a:bodyPr>
          <a:lstStyle/>
          <a:p>
            <a:pPr>
              <a:spcAft>
                <a:spcPts val="600"/>
              </a:spcAft>
              <a:defRPr sz="1200" b="1">
                <a:solidFill>
                  <a:srgbClr val="0284C7"/>
                </a:solidFill>
                <a:latin typeface="Arial"/>
              </a:defRPr>
            </a:pPr>
            <a:r>
              <a:t>MSSV: 25410122</a:t>
            </a:r>
          </a:p>
          <a:p>
            <a:pPr>
              <a:defRPr sz="1300" b="1">
                <a:solidFill>
                  <a:srgbClr val="0F172A"/>
                </a:solidFill>
                <a:latin typeface="Arial"/>
              </a:defRPr>
            </a:pPr>
            <a:r>
              <a:t>Trần Phi Sơn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400"/>
              </a:spcAft>
              <a:defRPr sz="2200" b="1">
                <a:solidFill>
                  <a:srgbClr val="0F172A"/>
                </a:solidFill>
                <a:latin typeface="Arial"/>
              </a:defRPr>
            </a:pPr>
            <a:r>
              <a:t>BÀI TOÁN VẬN HÀNH</a:t>
            </a:r>
          </a:p>
          <a:p>
            <a:pPr>
              <a:defRPr sz="1300">
                <a:solidFill>
                  <a:srgbClr val="475569"/>
                </a:solidFill>
                <a:latin typeface="Arial"/>
              </a:defRPr>
            </a:pPr>
            <a:r>
              <a:t>Phát Biểu Bài Toán Quản Lý Chuỗi Bãi Đỗ Xe Đô Thị (Mở Rộng N Chi Nhánh)</a:t>
            </a:r>
          </a:p>
        </p:txBody>
      </p:sp>
      <p:sp>
        <p:nvSpPr>
          <p:cNvPr id="3" name="Rounded Rectangle 2"/>
          <p:cNvSpPr/>
          <p:nvPr/>
        </p:nvSpPr>
        <p:spPr>
          <a:xfrm>
            <a:off x="731520" y="1371600"/>
            <a:ext cx="5180990" cy="484632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600200"/>
            <a:ext cx="4723790" cy="2846933"/>
          </a:xfrm>
          <a:prstGeom prst="rect">
            <a:avLst/>
          </a:prstGeom>
          <a:noFill/>
        </p:spPr>
        <p:txBody>
          <a:bodyPr wrap="square" lIns="0" tIns="0" rIns="0" bIns="0">
            <a:spAutoFit/>
          </a:bodyPr>
          <a:lstStyle/>
          <a:p>
            <a:pPr>
              <a:spcAft>
                <a:spcPts val="1000"/>
              </a:spcAft>
              <a:defRPr sz="1500" b="1">
                <a:solidFill>
                  <a:srgbClr val="0284C7"/>
                </a:solidFill>
                <a:latin typeface="Arial"/>
              </a:defRPr>
            </a:pPr>
            <a:r>
              <a:rPr dirty="0"/>
              <a:t>🌐 </a:t>
            </a:r>
            <a:r>
              <a:rPr dirty="0" err="1"/>
              <a:t>Mô</a:t>
            </a:r>
            <a:r>
              <a:rPr dirty="0"/>
              <a:t> Hình Quản Lý Chuỗi </a:t>
            </a:r>
            <a:r>
              <a:rPr dirty="0" err="1"/>
              <a:t>Đa</a:t>
            </a:r>
            <a:r>
              <a:rPr dirty="0"/>
              <a:t> Chi </a:t>
            </a:r>
            <a:r>
              <a:rPr dirty="0" err="1"/>
              <a:t>Nhánh</a:t>
            </a:r>
            <a:r>
              <a:rPr dirty="0"/>
              <a:t> (</a:t>
            </a:r>
            <a:r>
              <a:rPr dirty="0" err="1"/>
              <a:t>Mở</a:t>
            </a:r>
            <a:r>
              <a:rPr dirty="0"/>
              <a:t> </a:t>
            </a:r>
            <a:r>
              <a:rPr dirty="0" err="1"/>
              <a:t>Rộng</a:t>
            </a:r>
            <a:r>
              <a:rPr dirty="0"/>
              <a:t> N </a:t>
            </a:r>
            <a:r>
              <a:rPr dirty="0" err="1"/>
              <a:t>Bãi</a:t>
            </a:r>
            <a:r>
              <a:rPr dirty="0"/>
              <a:t>)</a:t>
            </a:r>
          </a:p>
          <a:p>
            <a:pPr>
              <a:spcAft>
                <a:spcPts val="800"/>
              </a:spcAft>
              <a:defRPr sz="1200">
                <a:solidFill>
                  <a:srgbClr val="0F172A"/>
                </a:solidFill>
                <a:latin typeface="Arial"/>
              </a:defRPr>
            </a:pPr>
            <a:r>
              <a:rPr dirty="0"/>
              <a:t>• </a:t>
            </a:r>
            <a:r>
              <a:rPr dirty="0" err="1"/>
              <a:t>Bài</a:t>
            </a:r>
            <a:r>
              <a:rPr dirty="0"/>
              <a:t> </a:t>
            </a:r>
            <a:r>
              <a:rPr dirty="0" err="1"/>
              <a:t>toán</a:t>
            </a:r>
            <a:r>
              <a:rPr dirty="0"/>
              <a:t> </a:t>
            </a:r>
            <a:r>
              <a:rPr dirty="0" err="1"/>
              <a:t>tổng</a:t>
            </a:r>
            <a:r>
              <a:rPr dirty="0"/>
              <a:t> </a:t>
            </a:r>
            <a:r>
              <a:rPr dirty="0" err="1"/>
              <a:t>quát</a:t>
            </a:r>
            <a:r>
              <a:rPr dirty="0"/>
              <a:t>: Quản </a:t>
            </a:r>
            <a:r>
              <a:rPr dirty="0" err="1"/>
              <a:t>lý</a:t>
            </a:r>
            <a:r>
              <a:rPr dirty="0"/>
              <a:t> </a:t>
            </a:r>
            <a:r>
              <a:rPr dirty="0" err="1"/>
              <a:t>chuỗi</a:t>
            </a:r>
            <a:r>
              <a:rPr dirty="0"/>
              <a:t> </a:t>
            </a:r>
            <a:r>
              <a:rPr dirty="0" err="1"/>
              <a:t>bãi</a:t>
            </a:r>
            <a:r>
              <a:rPr dirty="0"/>
              <a:t> </a:t>
            </a:r>
            <a:r>
              <a:rPr dirty="0" err="1"/>
              <a:t>đỗ</a:t>
            </a:r>
            <a:r>
              <a:rPr dirty="0"/>
              <a:t> </a:t>
            </a:r>
            <a:r>
              <a:rPr dirty="0" err="1"/>
              <a:t>xe</a:t>
            </a:r>
            <a:r>
              <a:rPr dirty="0"/>
              <a:t> </a:t>
            </a:r>
            <a:r>
              <a:rPr dirty="0" err="1"/>
              <a:t>quy</a:t>
            </a:r>
            <a:r>
              <a:rPr dirty="0"/>
              <a:t> </a:t>
            </a:r>
            <a:r>
              <a:rPr dirty="0" err="1"/>
              <a:t>mô</a:t>
            </a:r>
            <a:r>
              <a:rPr dirty="0"/>
              <a:t> </a:t>
            </a:r>
            <a:r>
              <a:rPr dirty="0" err="1"/>
              <a:t>linh</a:t>
            </a:r>
            <a:r>
              <a:rPr dirty="0"/>
              <a:t> </a:t>
            </a:r>
            <a:r>
              <a:rPr dirty="0" err="1"/>
              <a:t>hoạt</a:t>
            </a:r>
            <a:r>
              <a:rPr dirty="0"/>
              <a:t> (</a:t>
            </a:r>
            <a:r>
              <a:rPr dirty="0" err="1"/>
              <a:t>không</a:t>
            </a:r>
            <a:r>
              <a:rPr dirty="0"/>
              <a:t> </a:t>
            </a:r>
            <a:r>
              <a:rPr dirty="0" err="1"/>
              <a:t>cố</a:t>
            </a:r>
            <a:r>
              <a:rPr dirty="0"/>
              <a:t> </a:t>
            </a:r>
            <a:r>
              <a:rPr dirty="0" err="1"/>
              <a:t>định</a:t>
            </a:r>
            <a:r>
              <a:rPr dirty="0"/>
              <a:t> </a:t>
            </a:r>
            <a:r>
              <a:rPr dirty="0" err="1"/>
              <a:t>số</a:t>
            </a:r>
            <a:r>
              <a:rPr dirty="0"/>
              <a:t> </a:t>
            </a:r>
            <a:r>
              <a:rPr dirty="0" err="1"/>
              <a:t>lượng</a:t>
            </a:r>
            <a:r>
              <a:rPr dirty="0"/>
              <a:t> </a:t>
            </a:r>
            <a:r>
              <a:rPr dirty="0" err="1"/>
              <a:t>bãi</a:t>
            </a:r>
            <a:r>
              <a:rPr dirty="0"/>
              <a:t>, </a:t>
            </a:r>
            <a:r>
              <a:rPr dirty="0" err="1"/>
              <a:t>dễ</a:t>
            </a:r>
            <a:r>
              <a:rPr dirty="0"/>
              <a:t> </a:t>
            </a:r>
            <a:r>
              <a:rPr dirty="0" err="1"/>
              <a:t>dàng</a:t>
            </a:r>
            <a:r>
              <a:rPr dirty="0"/>
              <a:t> </a:t>
            </a:r>
            <a:r>
              <a:rPr dirty="0" err="1"/>
              <a:t>mở</a:t>
            </a:r>
            <a:r>
              <a:rPr dirty="0"/>
              <a:t> </a:t>
            </a:r>
            <a:r>
              <a:rPr dirty="0" err="1"/>
              <a:t>rộng</a:t>
            </a:r>
            <a:r>
              <a:rPr dirty="0"/>
              <a:t> N chi </a:t>
            </a:r>
            <a:r>
              <a:rPr dirty="0" err="1"/>
              <a:t>nhánh</a:t>
            </a:r>
            <a:r>
              <a:rPr dirty="0"/>
              <a:t> </a:t>
            </a:r>
            <a:r>
              <a:rPr dirty="0" err="1"/>
              <a:t>trên</a:t>
            </a:r>
            <a:r>
              <a:rPr dirty="0"/>
              <a:t> </a:t>
            </a:r>
            <a:r>
              <a:rPr dirty="0" err="1"/>
              <a:t>toàn</a:t>
            </a:r>
            <a:r>
              <a:rPr dirty="0"/>
              <a:t> </a:t>
            </a:r>
            <a:r>
              <a:rPr dirty="0" err="1"/>
              <a:t>quốc</a:t>
            </a:r>
            <a:r>
              <a:rPr dirty="0"/>
              <a:t>).</a:t>
            </a:r>
          </a:p>
          <a:p>
            <a:pPr>
              <a:spcAft>
                <a:spcPts val="800"/>
              </a:spcAft>
              <a:defRPr sz="1200">
                <a:solidFill>
                  <a:srgbClr val="0F172A"/>
                </a:solidFill>
                <a:latin typeface="Arial"/>
              </a:defRPr>
            </a:pPr>
            <a:r>
              <a:rPr dirty="0"/>
              <a:t>• </a:t>
            </a:r>
            <a:r>
              <a:rPr dirty="0" err="1"/>
              <a:t>Dữ</a:t>
            </a:r>
            <a:r>
              <a:rPr dirty="0"/>
              <a:t> </a:t>
            </a:r>
            <a:r>
              <a:rPr dirty="0" err="1"/>
              <a:t>liệu</a:t>
            </a:r>
            <a:r>
              <a:rPr dirty="0"/>
              <a:t> </a:t>
            </a:r>
            <a:r>
              <a:rPr dirty="0" err="1"/>
              <a:t>thử</a:t>
            </a:r>
            <a:r>
              <a:rPr dirty="0"/>
              <a:t> </a:t>
            </a:r>
            <a:r>
              <a:rPr dirty="0" err="1"/>
              <a:t>nghiệm</a:t>
            </a:r>
            <a:r>
              <a:rPr dirty="0"/>
              <a:t> (Pilot Demo): </a:t>
            </a:r>
            <a:r>
              <a:rPr dirty="0" err="1"/>
              <a:t>Triển</a:t>
            </a:r>
            <a:r>
              <a:rPr dirty="0"/>
              <a:t> </a:t>
            </a:r>
            <a:r>
              <a:rPr dirty="0" err="1"/>
              <a:t>khai</a:t>
            </a:r>
            <a:r>
              <a:rPr dirty="0"/>
              <a:t> </a:t>
            </a:r>
            <a:r>
              <a:rPr dirty="0" err="1"/>
              <a:t>mô</a:t>
            </a:r>
            <a:r>
              <a:rPr dirty="0"/>
              <a:t> </a:t>
            </a:r>
            <a:r>
              <a:rPr dirty="0" err="1"/>
              <a:t>phỏng</a:t>
            </a:r>
            <a:r>
              <a:rPr dirty="0"/>
              <a:t> </a:t>
            </a:r>
            <a:r>
              <a:rPr dirty="0" err="1"/>
              <a:t>trên</a:t>
            </a:r>
            <a:r>
              <a:rPr dirty="0"/>
              <a:t> </a:t>
            </a:r>
            <a:r>
              <a:rPr dirty="0" err="1"/>
              <a:t>chuỗi</a:t>
            </a:r>
            <a:r>
              <a:rPr dirty="0"/>
              <a:t> 5 </a:t>
            </a:r>
            <a:r>
              <a:rPr dirty="0" err="1"/>
              <a:t>bãi</a:t>
            </a:r>
            <a:r>
              <a:rPr dirty="0"/>
              <a:t> </a:t>
            </a:r>
            <a:r>
              <a:rPr dirty="0" err="1"/>
              <a:t>xe</a:t>
            </a:r>
            <a:r>
              <a:rPr dirty="0"/>
              <a:t> </a:t>
            </a:r>
            <a:r>
              <a:rPr dirty="0" err="1"/>
              <a:t>tiêu</a:t>
            </a:r>
            <a:r>
              <a:rPr dirty="0"/>
              <a:t> </a:t>
            </a:r>
            <a:r>
              <a:rPr dirty="0" err="1"/>
              <a:t>biểu</a:t>
            </a:r>
            <a:r>
              <a:rPr dirty="0"/>
              <a:t> </a:t>
            </a:r>
            <a:r>
              <a:rPr dirty="0" err="1"/>
              <a:t>tại</a:t>
            </a:r>
            <a:r>
              <a:rPr dirty="0"/>
              <a:t> TP.HCM (Q1, Q3, BT, TB, Q7)</a:t>
            </a:r>
            <a:r>
              <a:rPr lang="vi-VN" dirty="0"/>
              <a:t>.</a:t>
            </a:r>
          </a:p>
          <a:p>
            <a:pPr>
              <a:spcAft>
                <a:spcPts val="800"/>
              </a:spcAft>
              <a:defRPr sz="1200">
                <a:solidFill>
                  <a:srgbClr val="0F172A"/>
                </a:solidFill>
                <a:latin typeface="Arial"/>
              </a:defRPr>
            </a:pPr>
            <a:r>
              <a:rPr lang="vi-VN" dirty="0"/>
              <a:t>• Quản lý song song 2 hình thức: Gửi xe lượt (tính phí giờ lũy tiến riêng cho từng bãi) &amp; Đăng ký Vé tháng định kỳ.</a:t>
            </a:r>
          </a:p>
          <a:p>
            <a:pPr>
              <a:spcAft>
                <a:spcPts val="800"/>
              </a:spcAft>
              <a:defRPr sz="1200">
                <a:solidFill>
                  <a:srgbClr val="0F172A"/>
                </a:solidFill>
                <a:latin typeface="Arial"/>
              </a:defRPr>
            </a:pPr>
            <a:r>
              <a:rPr dirty="0"/>
              <a:t>• Quy </a:t>
            </a:r>
            <a:r>
              <a:rPr dirty="0" err="1"/>
              <a:t>tắc</a:t>
            </a:r>
            <a:r>
              <a:rPr dirty="0"/>
              <a:t> </a:t>
            </a:r>
            <a:r>
              <a:rPr dirty="0" err="1"/>
              <a:t>vé</a:t>
            </a:r>
            <a:r>
              <a:rPr dirty="0"/>
              <a:t> </a:t>
            </a:r>
            <a:r>
              <a:rPr dirty="0" err="1"/>
              <a:t>linh</a:t>
            </a:r>
            <a:r>
              <a:rPr dirty="0"/>
              <a:t> </a:t>
            </a:r>
            <a:r>
              <a:rPr dirty="0" err="1"/>
              <a:t>hoạt</a:t>
            </a:r>
            <a:r>
              <a:rPr dirty="0"/>
              <a:t>: </a:t>
            </a:r>
            <a:r>
              <a:rPr dirty="0" err="1"/>
              <a:t>Phân</a:t>
            </a:r>
            <a:r>
              <a:rPr dirty="0"/>
              <a:t> </a:t>
            </a:r>
            <a:r>
              <a:rPr dirty="0" err="1"/>
              <a:t>định</a:t>
            </a:r>
            <a:r>
              <a:rPr dirty="0"/>
              <a:t> </a:t>
            </a:r>
            <a:r>
              <a:rPr dirty="0" err="1"/>
              <a:t>Vé</a:t>
            </a:r>
            <a:r>
              <a:rPr dirty="0"/>
              <a:t> </a:t>
            </a:r>
            <a:r>
              <a:rPr dirty="0" err="1"/>
              <a:t>tháng</a:t>
            </a:r>
            <a:r>
              <a:rPr dirty="0"/>
              <a:t> 1 </a:t>
            </a:r>
            <a:r>
              <a:rPr dirty="0" err="1"/>
              <a:t>bãi</a:t>
            </a:r>
            <a:r>
              <a:rPr dirty="0"/>
              <a:t> </a:t>
            </a:r>
            <a:r>
              <a:rPr dirty="0" err="1"/>
              <a:t>cố</a:t>
            </a:r>
            <a:r>
              <a:rPr dirty="0"/>
              <a:t> </a:t>
            </a:r>
            <a:r>
              <a:rPr dirty="0" err="1"/>
              <a:t>định</a:t>
            </a:r>
            <a:r>
              <a:rPr dirty="0"/>
              <a:t> vs. </a:t>
            </a:r>
            <a:r>
              <a:rPr dirty="0" err="1"/>
              <a:t>Vé</a:t>
            </a:r>
            <a:r>
              <a:rPr dirty="0"/>
              <a:t> </a:t>
            </a:r>
            <a:r>
              <a:rPr dirty="0" err="1"/>
              <a:t>toàn</a:t>
            </a:r>
            <a:r>
              <a:rPr dirty="0"/>
              <a:t> </a:t>
            </a:r>
            <a:r>
              <a:rPr dirty="0" err="1"/>
              <a:t>chuỗi</a:t>
            </a:r>
            <a:r>
              <a:rPr dirty="0"/>
              <a:t> (</a:t>
            </a:r>
            <a:r>
              <a:rPr dirty="0" err="1"/>
              <a:t>MaBaiApDung</a:t>
            </a:r>
            <a:r>
              <a:rPr dirty="0"/>
              <a:t> = 'ALL' </a:t>
            </a:r>
            <a:r>
              <a:rPr dirty="0" err="1"/>
              <a:t>được</a:t>
            </a:r>
            <a:r>
              <a:rPr dirty="0"/>
              <a:t> </a:t>
            </a:r>
            <a:r>
              <a:rPr dirty="0" err="1"/>
              <a:t>đỗ</a:t>
            </a:r>
            <a:r>
              <a:rPr dirty="0"/>
              <a:t> </a:t>
            </a:r>
            <a:r>
              <a:rPr dirty="0" err="1"/>
              <a:t>ở</a:t>
            </a:r>
            <a:r>
              <a:rPr dirty="0"/>
              <a:t> </a:t>
            </a:r>
            <a:r>
              <a:rPr dirty="0" err="1"/>
              <a:t>mọi</a:t>
            </a:r>
            <a:r>
              <a:rPr dirty="0"/>
              <a:t> </a:t>
            </a:r>
            <a:r>
              <a:rPr dirty="0" err="1"/>
              <a:t>bãi</a:t>
            </a:r>
            <a:r>
              <a:rPr dirty="0"/>
              <a:t> </a:t>
            </a:r>
            <a:r>
              <a:rPr dirty="0" err="1"/>
              <a:t>thuộc</a:t>
            </a:r>
            <a:r>
              <a:rPr dirty="0"/>
              <a:t> </a:t>
            </a:r>
            <a:r>
              <a:rPr dirty="0" err="1"/>
              <a:t>hệ</a:t>
            </a:r>
            <a:r>
              <a:rPr dirty="0"/>
              <a:t> </a:t>
            </a:r>
            <a:r>
              <a:rPr dirty="0" err="1"/>
              <a:t>thống</a:t>
            </a:r>
            <a:r>
              <a:rPr dirty="0"/>
              <a:t>).</a:t>
            </a:r>
          </a:p>
          <a:p>
            <a:pPr>
              <a:spcAft>
                <a:spcPts val="800"/>
              </a:spcAft>
              <a:defRPr sz="1200">
                <a:solidFill>
                  <a:srgbClr val="0F172A"/>
                </a:solidFill>
                <a:latin typeface="Arial"/>
              </a:defRPr>
            </a:pPr>
            <a:r>
              <a:rPr dirty="0"/>
              <a:t>• </a:t>
            </a:r>
            <a:r>
              <a:rPr dirty="0" err="1"/>
              <a:t>Cổng</a:t>
            </a:r>
            <a:r>
              <a:rPr dirty="0"/>
              <a:t> </a:t>
            </a:r>
            <a:r>
              <a:rPr dirty="0" err="1"/>
              <a:t>khách</a:t>
            </a:r>
            <a:r>
              <a:rPr dirty="0"/>
              <a:t> </a:t>
            </a:r>
            <a:r>
              <a:rPr dirty="0" err="1"/>
              <a:t>hàng</a:t>
            </a:r>
            <a:r>
              <a:rPr dirty="0"/>
              <a:t> Online: Quản </a:t>
            </a:r>
            <a:r>
              <a:rPr dirty="0" err="1"/>
              <a:t>lý</a:t>
            </a:r>
            <a:r>
              <a:rPr dirty="0"/>
              <a:t> </a:t>
            </a:r>
            <a:r>
              <a:rPr dirty="0" err="1"/>
              <a:t>Ví</a:t>
            </a:r>
            <a:r>
              <a:rPr dirty="0"/>
              <a:t> </a:t>
            </a:r>
            <a:r>
              <a:rPr dirty="0" err="1"/>
              <a:t>điện</a:t>
            </a:r>
            <a:r>
              <a:rPr dirty="0"/>
              <a:t> </a:t>
            </a:r>
            <a:r>
              <a:rPr dirty="0" err="1"/>
              <a:t>tử</a:t>
            </a:r>
            <a:r>
              <a:rPr dirty="0"/>
              <a:t> </a:t>
            </a:r>
            <a:r>
              <a:rPr dirty="0" err="1"/>
              <a:t>trả</a:t>
            </a:r>
            <a:r>
              <a:rPr dirty="0"/>
              <a:t> </a:t>
            </a:r>
            <a:r>
              <a:rPr dirty="0" err="1"/>
              <a:t>trước</a:t>
            </a:r>
            <a:r>
              <a:rPr dirty="0"/>
              <a:t> </a:t>
            </a:r>
            <a:r>
              <a:rPr dirty="0" err="1"/>
              <a:t>nạp</a:t>
            </a:r>
            <a:r>
              <a:rPr dirty="0"/>
              <a:t> </a:t>
            </a:r>
            <a:r>
              <a:rPr dirty="0" err="1"/>
              <a:t>tiền</a:t>
            </a:r>
            <a:r>
              <a:rPr dirty="0"/>
              <a:t> 2 </a:t>
            </a:r>
            <a:r>
              <a:rPr dirty="0" err="1"/>
              <a:t>pha</a:t>
            </a:r>
            <a:r>
              <a:rPr dirty="0"/>
              <a:t>, chia </a:t>
            </a:r>
            <a:r>
              <a:rPr dirty="0" err="1"/>
              <a:t>sẻ</a:t>
            </a:r>
            <a:r>
              <a:rPr dirty="0"/>
              <a:t>/</a:t>
            </a:r>
            <a:r>
              <a:rPr dirty="0" err="1"/>
              <a:t>ủy</a:t>
            </a:r>
            <a:r>
              <a:rPr dirty="0"/>
              <a:t> </a:t>
            </a:r>
            <a:r>
              <a:rPr dirty="0" err="1"/>
              <a:t>quyền</a:t>
            </a:r>
            <a:r>
              <a:rPr dirty="0"/>
              <a:t> </a:t>
            </a:r>
            <a:r>
              <a:rPr dirty="0" err="1"/>
              <a:t>vé</a:t>
            </a:r>
            <a:r>
              <a:rPr dirty="0"/>
              <a:t> </a:t>
            </a:r>
            <a:r>
              <a:rPr dirty="0" err="1"/>
              <a:t>tháng</a:t>
            </a:r>
            <a:r>
              <a:rPr dirty="0"/>
              <a:t> </a:t>
            </a:r>
            <a:r>
              <a:rPr dirty="0" err="1"/>
              <a:t>và</a:t>
            </a:r>
            <a:r>
              <a:rPr dirty="0"/>
              <a:t> </a:t>
            </a:r>
            <a:r>
              <a:rPr dirty="0" err="1"/>
              <a:t>xem</a:t>
            </a:r>
            <a:r>
              <a:rPr dirty="0"/>
              <a:t> </a:t>
            </a:r>
            <a:r>
              <a:rPr dirty="0" err="1"/>
              <a:t>lịch</a:t>
            </a:r>
            <a:r>
              <a:rPr dirty="0"/>
              <a:t> </a:t>
            </a:r>
            <a:r>
              <a:rPr dirty="0" err="1"/>
              <a:t>sử</a:t>
            </a:r>
            <a:r>
              <a:rPr dirty="0"/>
              <a:t> </a:t>
            </a:r>
            <a:r>
              <a:rPr dirty="0" err="1"/>
              <a:t>gửi</a:t>
            </a:r>
            <a:r>
              <a:rPr dirty="0"/>
              <a:t> </a:t>
            </a:r>
            <a:r>
              <a:rPr dirty="0" err="1"/>
              <a:t>xe</a:t>
            </a:r>
            <a:r>
              <a:rPr dirty="0"/>
              <a:t>.</a:t>
            </a:r>
          </a:p>
        </p:txBody>
      </p:sp>
      <p:sp>
        <p:nvSpPr>
          <p:cNvPr id="5" name="Rounded Rectangle 4"/>
          <p:cNvSpPr/>
          <p:nvPr/>
        </p:nvSpPr>
        <p:spPr>
          <a:xfrm>
            <a:off x="6278270" y="1371600"/>
            <a:ext cx="5180990" cy="484632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600200"/>
            <a:ext cx="4723790" cy="4389120"/>
          </a:xfrm>
          <a:prstGeom prst="rect">
            <a:avLst/>
          </a:prstGeom>
          <a:noFill/>
        </p:spPr>
        <p:txBody>
          <a:bodyPr wrap="square" lIns="0" tIns="0" rIns="0" bIns="0">
            <a:spAutoFit/>
          </a:bodyPr>
          <a:lstStyle/>
          <a:p>
            <a:pPr>
              <a:spcAft>
                <a:spcPts val="1000"/>
              </a:spcAft>
              <a:defRPr sz="1500" b="1">
                <a:solidFill>
                  <a:srgbClr val="DC2626"/>
                </a:solidFill>
                <a:latin typeface="Arial"/>
              </a:defRPr>
            </a:pPr>
            <a:r>
              <a:t>⚠️ Thách Thức Vận Hành &amp; Yêu Cầu CSDL</a:t>
            </a:r>
          </a:p>
          <a:p>
            <a:pPr>
              <a:spcAft>
                <a:spcPts val="1200"/>
              </a:spcAft>
              <a:defRPr sz="1200">
                <a:solidFill>
                  <a:srgbClr val="0F172A"/>
                </a:solidFill>
                <a:latin typeface="Arial"/>
              </a:defRPr>
            </a:pPr>
            <a:r>
              <a:t>1. Tự động hóa Barrier: Kiểm soát xe vào/ra dưới 2 giây, tự động tìm và cấp ô đỗ trống khớp loại xe.</a:t>
            </a:r>
          </a:p>
          <a:p>
            <a:pPr>
              <a:spcAft>
                <a:spcPts val="1200"/>
              </a:spcAft>
              <a:defRPr sz="1200">
                <a:solidFill>
                  <a:srgbClr val="0F172A"/>
                </a:solidFill>
                <a:latin typeface="Arial"/>
              </a:defRPr>
            </a:pPr>
            <a:r>
              <a:t>2. Ràng buộc toàn vẹn dữ liệu: Ngăn chặn check-in khi bãi đầy, thẻ bị khóa/báo mất, hoặc vé tháng quá hạn.</a:t>
            </a:r>
          </a:p>
          <a:p>
            <a:pPr>
              <a:spcAft>
                <a:spcPts val="1200"/>
              </a:spcAft>
              <a:defRPr sz="1200">
                <a:solidFill>
                  <a:srgbClr val="0F172A"/>
                </a:solidFill>
                <a:latin typeface="Arial"/>
              </a:defRPr>
            </a:pPr>
            <a:r>
              <a:t>3. Bảo mật đa lớp: Áp dụng RBAC (4 Vai trò), RLS (Cô lập dữ liệu khách hàng) và Băm mật khẩu SHA2_512 có Salt.</a:t>
            </a:r>
          </a:p>
          <a:p>
            <a:pPr>
              <a:spcAft>
                <a:spcPts val="1200"/>
              </a:spcAft>
              <a:defRPr sz="1200">
                <a:solidFill>
                  <a:srgbClr val="0F172A"/>
                </a:solidFill>
                <a:latin typeface="Arial"/>
              </a:defRPr>
            </a:pPr>
            <a:r>
              <a:t>4. Toàn vẹn tài chính: Sổ cái kế toán bất biến (Append-Only) chống gian lận và quy trình nạp tiền 2 pha chống trùng.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#01 — SP-XE-VAO-BAI</a:t>
            </a:r>
          </a:p>
          <a:p>
            <a:pPr>
              <a:defRPr sz="2000" b="1">
                <a:solidFill>
                  <a:srgbClr val="0F172A"/>
                </a:solidFill>
                <a:latin typeface="Arial"/>
              </a:defRPr>
            </a:pPr>
            <a:r>
              <a:t>DEMO 01: Check-In Xe Vào Bãi &amp; Cấp Ô Đỗ Tự Động</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quét thẻ chip vào bãi. Hệ thống phải kiểm tra tính hợp lệ của thẻ, bãi đỗ và tự động tìm một vị trí đỗ trống phù hợp với loại xe để cấp cho khách, đồng thời đồng bộ sơ đồ ô đỗ realtime.</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(Ghi nhận lượt check-in mới)</a:t>
            </a:r>
          </a:p>
          <a:p>
            <a:pPr>
              <a:spcAft>
                <a:spcPts val="300"/>
              </a:spcAft>
              <a:defRPr sz="1150">
                <a:solidFill>
                  <a:srgbClr val="0F172A"/>
                </a:solidFill>
                <a:latin typeface="Arial"/>
              </a:defRPr>
            </a:pPr>
            <a:r>
              <a:t>    - VI_TRI_DO (Đổi trạng thái ô đỗ thành 'Đã đỗ')</a:t>
            </a:r>
          </a:p>
          <a:p>
            <a:pPr>
              <a:spcAft>
                <a:spcPts val="300"/>
              </a:spcAft>
              <a:defRPr sz="1150">
                <a:solidFill>
                  <a:srgbClr val="0F172A"/>
                </a:solidFill>
                <a:latin typeface="Arial"/>
              </a:defRPr>
            </a:pPr>
            <a:r>
              <a:t>    - BAI_DO_XE (Tăng số lượng xe đỗ trong bãi lên 1)</a:t>
            </a:r>
          </a:p>
          <a:p>
            <a:pPr>
              <a:spcAft>
                <a:spcPts val="300"/>
              </a:spcAft>
              <a:defRPr sz="1150">
                <a:solidFill>
                  <a:srgbClr val="0F172A"/>
                </a:solidFill>
                <a:latin typeface="Arial"/>
              </a:defRPr>
            </a:pPr>
            <a:r>
              <a:t>    - THE_XE (Xác minh trạng thái thẻ)</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sp_XeVaoBai + Function f_TimSlotTrong + Trigger trg_DongBoTrangThaiSlot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#02 — SP-XE-RA-BAI</a:t>
            </a:r>
          </a:p>
          <a:p>
            <a:pPr>
              <a:defRPr sz="2000" b="1">
                <a:solidFill>
                  <a:srgbClr val="0F172A"/>
                </a:solidFill>
                <a:latin typeface="Arial"/>
              </a:defRPr>
            </a:pPr>
            <a:r>
              <a:t>DEMO 02: Check-Out Xe Ra Bãi &amp; Tính Phí Gửi Lũy Tiến</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Xe quét thẻ ra bãi. Hệ thống đối chiếu thông tin lượt vào, tự động tính tổng tiền đỗ xe dựa trên giờ gửi thực tế và biểu phí lũy tiến của chi nhánh, giải phóng ô đỗ về trạng thái 'Trống'.</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(Cập nhật thời gian ra &amp; số tiền thu)</a:t>
            </a:r>
          </a:p>
          <a:p>
            <a:pPr>
              <a:spcAft>
                <a:spcPts val="300"/>
              </a:spcAft>
              <a:defRPr sz="1150">
                <a:solidFill>
                  <a:srgbClr val="0F172A"/>
                </a:solidFill>
                <a:latin typeface="Arial"/>
              </a:defRPr>
            </a:pPr>
            <a:r>
              <a:t>    - VI_TRI_DO (Chuyển trạng thái ô về 'Trống')</a:t>
            </a:r>
          </a:p>
          <a:p>
            <a:pPr>
              <a:spcAft>
                <a:spcPts val="300"/>
              </a:spcAft>
              <a:defRPr sz="1150">
                <a:solidFill>
                  <a:srgbClr val="0F172A"/>
                </a:solidFill>
                <a:latin typeface="Arial"/>
              </a:defRPr>
            </a:pPr>
            <a:r>
              <a:t>    - BAI_DO_XE (Giảm số lượng xe đỗ trong bãi đi 1)</a:t>
            </a:r>
          </a:p>
          <a:p>
            <a:pPr>
              <a:spcAft>
                <a:spcPts val="300"/>
              </a:spcAft>
              <a:defRPr sz="1150">
                <a:solidFill>
                  <a:srgbClr val="0F172A"/>
                </a:solidFill>
                <a:latin typeface="Arial"/>
              </a:defRPr>
            </a:pPr>
            <a:r>
              <a:t>    - LOAI_XE (Truy xuất biểu phí đơn giá giờ)</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sp_XeRaBai + Function f_TinhTienGuiXe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#03 — SP-DANG-KY-THANH-VIEN</a:t>
            </a:r>
          </a:p>
          <a:p>
            <a:pPr>
              <a:defRPr sz="2000" b="1">
                <a:solidFill>
                  <a:srgbClr val="0F172A"/>
                </a:solidFill>
                <a:latin typeface="Arial"/>
              </a:defRPr>
            </a:pPr>
            <a:r>
              <a:rPr dirty="0"/>
              <a:t>DEMO 03: </a:t>
            </a:r>
            <a:r>
              <a:rPr dirty="0" err="1"/>
              <a:t>Đăng</a:t>
            </a:r>
            <a:r>
              <a:rPr dirty="0"/>
              <a:t> </a:t>
            </a:r>
            <a:r>
              <a:rPr dirty="0" err="1"/>
              <a:t>Ký</a:t>
            </a:r>
            <a:r>
              <a:rPr dirty="0"/>
              <a:t> </a:t>
            </a:r>
            <a:r>
              <a:rPr dirty="0" err="1"/>
              <a:t>Vé</a:t>
            </a:r>
            <a:r>
              <a:rPr dirty="0"/>
              <a:t> </a:t>
            </a:r>
            <a:r>
              <a:rPr dirty="0" err="1"/>
              <a:t>Tháng</a:t>
            </a:r>
            <a:r>
              <a:rPr dirty="0"/>
              <a:t> </a:t>
            </a:r>
            <a:r>
              <a:rPr dirty="0" err="1"/>
              <a:t>Tại</a:t>
            </a:r>
            <a:r>
              <a:rPr dirty="0"/>
              <a:t> </a:t>
            </a:r>
            <a:r>
              <a:rPr dirty="0" err="1"/>
              <a:t>Quầy</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Tiếp nhận khách hàng mới đăng ký vé tháng tại quầy. Toàn bộ 4 thao tác (tạo hồ sơ khách, chuyển thẻ sang 'Tháng', tạo vé tháng và lập hóa đơn) phải thành công đồng thời trong 1 Transaction ACID.</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KHACH_HANG (Tạo/Cập nhật thông tin khách)</a:t>
            </a:r>
          </a:p>
          <a:p>
            <a:pPr>
              <a:spcAft>
                <a:spcPts val="300"/>
              </a:spcAft>
              <a:defRPr sz="1150">
                <a:solidFill>
                  <a:srgbClr val="0F172A"/>
                </a:solidFill>
                <a:latin typeface="Arial"/>
              </a:defRPr>
            </a:pPr>
            <a:r>
              <a:t>    - THE_XE (Cập nhật loại thẻ sang 'Tháng')</a:t>
            </a:r>
          </a:p>
          <a:p>
            <a:pPr>
              <a:spcAft>
                <a:spcPts val="300"/>
              </a:spcAft>
              <a:defRPr sz="1150">
                <a:solidFill>
                  <a:srgbClr val="0F172A"/>
                </a:solidFill>
                <a:latin typeface="Arial"/>
              </a:defRPr>
            </a:pPr>
            <a:r>
              <a:t>    - VE_THANG (Khởi tạo hợp đồng vé tháng mới)</a:t>
            </a:r>
          </a:p>
          <a:p>
            <a:pPr>
              <a:spcAft>
                <a:spcPts val="300"/>
              </a:spcAft>
              <a:defRPr sz="1150">
                <a:solidFill>
                  <a:srgbClr val="0F172A"/>
                </a:solidFill>
                <a:latin typeface="Arial"/>
              </a:defRPr>
            </a:pPr>
            <a:r>
              <a:t>    - HOA_DON_VE_THANG (Lập hóa đơn thu tiền tại quầy)</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sp_DangKyThanhVien (Transaction 4 bước)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#04 — SP-GIA-HAN-VE-THANG</a:t>
            </a:r>
          </a:p>
          <a:p>
            <a:pPr>
              <a:defRPr sz="2000" b="1">
                <a:solidFill>
                  <a:srgbClr val="0F172A"/>
                </a:solidFill>
                <a:latin typeface="Arial"/>
              </a:defRPr>
            </a:pPr>
            <a:r>
              <a:rPr dirty="0"/>
              <a:t>DEMO 04: Gia Hạn </a:t>
            </a:r>
            <a:r>
              <a:rPr dirty="0" err="1"/>
              <a:t>Vé</a:t>
            </a:r>
            <a:r>
              <a:rPr dirty="0"/>
              <a:t> </a:t>
            </a:r>
            <a:r>
              <a:rPr dirty="0" err="1"/>
              <a:t>Tháng</a:t>
            </a:r>
            <a:r>
              <a:rPr dirty="0"/>
              <a:t> </a:t>
            </a:r>
            <a:r>
              <a:rPr dirty="0" err="1"/>
              <a:t>Tại</a:t>
            </a:r>
            <a:r>
              <a:rPr dirty="0"/>
              <a:t> </a:t>
            </a:r>
            <a:r>
              <a:rPr dirty="0" err="1"/>
              <a:t>Quầy</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hàng đến quầy đóng tiền gia hạn vé tháng. Hệ thống kiểm tra bãi xe áp dụng, cộng thêm ngày hạn vé, xuất hóa đơn gia hạn và gửi thông báo cho khách.</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VE_THANG (Cộng thêm thời gian hiệu lực)</a:t>
            </a:r>
          </a:p>
          <a:p>
            <a:pPr>
              <a:spcAft>
                <a:spcPts val="300"/>
              </a:spcAft>
              <a:defRPr sz="1150">
                <a:solidFill>
                  <a:srgbClr val="0F172A"/>
                </a:solidFill>
                <a:latin typeface="Arial"/>
              </a:defRPr>
            </a:pPr>
            <a:r>
              <a:t>    - HOA_DON_VE_THANG (Lập hóa đơn gia hạn tại quầy)</a:t>
            </a:r>
          </a:p>
          <a:p>
            <a:pPr>
              <a:spcAft>
                <a:spcPts val="300"/>
              </a:spcAft>
              <a:defRPr sz="1150">
                <a:solidFill>
                  <a:srgbClr val="0F172A"/>
                </a:solidFill>
                <a:latin typeface="Arial"/>
              </a:defRPr>
            </a:pPr>
            <a:r>
              <a:t>    - BAI_DO_XE (Xác minh thẩm quyền chi nhánh)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sp_GiaHanVeThang + sp_GiaHanVe_Core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#05 — SP-BAO-MAT-THE</a:t>
            </a:r>
          </a:p>
          <a:p>
            <a:pPr>
              <a:defRPr sz="2000" b="1">
                <a:solidFill>
                  <a:srgbClr val="0F172A"/>
                </a:solidFill>
                <a:latin typeface="Arial"/>
              </a:defRPr>
            </a:pPr>
            <a:r>
              <a:rPr dirty="0"/>
              <a:t>DEMO 05: Báo </a:t>
            </a:r>
            <a:r>
              <a:rPr dirty="0" err="1"/>
              <a:t>Mất</a:t>
            </a:r>
            <a:r>
              <a:rPr dirty="0"/>
              <a:t> </a:t>
            </a:r>
            <a:r>
              <a:rPr dirty="0" err="1"/>
              <a:t>Thẻ</a:t>
            </a:r>
            <a:r>
              <a:rPr dirty="0"/>
              <a:t> &amp; </a:t>
            </a:r>
            <a:r>
              <a:rPr lang="en-US" dirty="0" err="1"/>
              <a:t>Phạt</a:t>
            </a:r>
            <a:r>
              <a:rPr lang="en-US" dirty="0"/>
              <a:t> </a:t>
            </a:r>
            <a:r>
              <a:rPr lang="en-US" dirty="0" err="1"/>
              <a:t>Đền</a:t>
            </a:r>
            <a:r>
              <a:rPr lang="en-US" dirty="0"/>
              <a:t> </a:t>
            </a:r>
            <a:r>
              <a:rPr lang="en-US" dirty="0" err="1"/>
              <a:t>Bù</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hàng báo mất thẻ quét vật lý. Hệ thống chuyển trạng thái thẻ sang 'Mất', tạm khóa vé tháng và Trigger tự động ghi nhận biên bản sự cố đền bù thẻ vào sổ nhật ký.</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THE_XE (Đổi trạng thái thẻ sang 'Mất')</a:t>
            </a:r>
          </a:p>
          <a:p>
            <a:pPr>
              <a:spcAft>
                <a:spcPts val="300"/>
              </a:spcAft>
              <a:defRPr sz="1150">
                <a:solidFill>
                  <a:srgbClr val="0F172A"/>
                </a:solidFill>
                <a:latin typeface="Arial"/>
              </a:defRPr>
            </a:pPr>
            <a:r>
              <a:t>    - VE_THANG (Chuyển trạng thái vé sang 'Tạm khóa')</a:t>
            </a:r>
          </a:p>
          <a:p>
            <a:pPr>
              <a:spcAft>
                <a:spcPts val="300"/>
              </a:spcAft>
              <a:defRPr sz="1150">
                <a:solidFill>
                  <a:srgbClr val="0F172A"/>
                </a:solidFill>
                <a:latin typeface="Arial"/>
              </a:defRPr>
            </a:pPr>
            <a:r>
              <a:t>    - LICHSU_SU_CO (Tự động ghi nhận biên bản sự cố &amp; tiền phạt)</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sp_BaoMatThe + Trigger trg_LogLichSuSuCo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#06 — SP-CAP-LAI-THE</a:t>
            </a:r>
          </a:p>
          <a:p>
            <a:pPr>
              <a:defRPr sz="2000" b="1">
                <a:solidFill>
                  <a:srgbClr val="0F172A"/>
                </a:solidFill>
                <a:latin typeface="Arial"/>
              </a:defRPr>
            </a:pPr>
            <a:r>
              <a:rPr dirty="0"/>
              <a:t>DEMO 06: </a:t>
            </a:r>
            <a:r>
              <a:rPr lang="en-US" dirty="0" err="1"/>
              <a:t>Cấp</a:t>
            </a:r>
            <a:r>
              <a:rPr lang="en-US" dirty="0"/>
              <a:t> </a:t>
            </a:r>
            <a:r>
              <a:rPr lang="en-US" dirty="0" err="1"/>
              <a:t>Lại</a:t>
            </a:r>
            <a:r>
              <a:rPr lang="en-US" dirty="0"/>
              <a:t> Thẻ Xe Cho </a:t>
            </a:r>
            <a:r>
              <a:rPr lang="en-US" dirty="0" err="1"/>
              <a:t>Vé</a:t>
            </a:r>
            <a:r>
              <a:rPr lang="en-US" dirty="0"/>
              <a:t> Tháng </a:t>
            </a:r>
            <a:r>
              <a:rPr lang="en-US" dirty="0" err="1"/>
              <a:t>Mới</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Tái sử dụng phôi thẻ vật lý của vé đã hết hạn cho khách hàng mới. Hệ thống kiểm tra Filtered Unique Index đảm bảo 1 phôi thẻ chỉ gắn với duy nhất 1 vé còn hạn sử dụng.</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THE_XE (Gắn thẻ với hợp đồng vé mới)</a:t>
            </a:r>
          </a:p>
          <a:p>
            <a:pPr>
              <a:spcAft>
                <a:spcPts val="300"/>
              </a:spcAft>
              <a:defRPr sz="1150">
                <a:solidFill>
                  <a:srgbClr val="0F172A"/>
                </a:solidFill>
                <a:latin typeface="Arial"/>
              </a:defRPr>
            </a:pPr>
            <a:r>
              <a:t>    - VE_THANG (Cập nhật thông tin vé tháng)</a:t>
            </a:r>
          </a:p>
          <a:p>
            <a:pPr>
              <a:spcAft>
                <a:spcPts val="300"/>
              </a:spcAft>
              <a:defRPr sz="1150">
                <a:solidFill>
                  <a:srgbClr val="0F172A"/>
                </a:solidFill>
                <a:latin typeface="Arial"/>
              </a:defRPr>
            </a:pPr>
            <a:r>
              <a:t>    - LUOT_GUI (Ghi nhận lượt gửi theo vé mới)</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sp_CapLaiThe + Filtered Unique Index UX_VeThang_MaThe_ConDung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#07 — SP-DANG-NHAP-NHAN-VIEN</a:t>
            </a:r>
          </a:p>
          <a:p>
            <a:pPr>
              <a:defRPr sz="2000" b="1">
                <a:solidFill>
                  <a:srgbClr val="0F172A"/>
                </a:solidFill>
                <a:latin typeface="Arial"/>
              </a:defRPr>
            </a:pPr>
            <a:r>
              <a:t>DEMO 07: Đăng Nhập Nhân Viên &amp; Mật Khẩu Băm SHA2_512 + Salt</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Xác thực tài khoản nhân viên vận hành hệ thống bãi đỗ. Mật khẩu được băm một chiều SHA2_512 kết hợp chuỗi Salt 16-byte ngẫu nhiên riêng cho từng tài khoản.</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NHAN_VIEN (Truy xuất thông tin nhân sự)</a:t>
            </a:r>
          </a:p>
          <a:p>
            <a:pPr>
              <a:spcAft>
                <a:spcPts val="300"/>
              </a:spcAft>
              <a:defRPr sz="1150">
                <a:solidFill>
                  <a:srgbClr val="0F172A"/>
                </a:solidFill>
                <a:latin typeface="Arial"/>
              </a:defRPr>
            </a:pPr>
            <a:r>
              <a:t>    - TAI_KHOAN (Đối chiếu chuỗi băm mật khẩu và Salt)</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sp_DangNhap + Function f_BamMatKhau (SHA2_512)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#08 — TRIGGER-CHAN-CHECKIN-LOI</a:t>
            </a:r>
          </a:p>
          <a:p>
            <a:pPr>
              <a:defRPr sz="2000" b="1">
                <a:solidFill>
                  <a:srgbClr val="0F172A"/>
                </a:solidFill>
                <a:latin typeface="Arial"/>
              </a:defRPr>
            </a:pPr>
            <a:r>
              <a:t>DEMO 08: Trigger Chặn Check-In Thẻ Bị Khóa, Báo Mất Hoặc Bãi Đầy</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Tự động ngăn chặn giao dịch xe vào bãi nếu thẻ quét bị báo mất, bị khóa vĩnh viễn, hoặc dung lượng bãi đỗ tại chi nhánh đã lấp đầy 100%.</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(Ngăn chặn INSERT bản ghi vi phạm)</a:t>
            </a:r>
          </a:p>
          <a:p>
            <a:pPr>
              <a:spcAft>
                <a:spcPts val="300"/>
              </a:spcAft>
              <a:defRPr sz="1150">
                <a:solidFill>
                  <a:srgbClr val="0F172A"/>
                </a:solidFill>
                <a:latin typeface="Arial"/>
              </a:defRPr>
            </a:pPr>
            <a:r>
              <a:t>    - THE_XE (Kiểm tra trạng thái thẻ)</a:t>
            </a:r>
          </a:p>
          <a:p>
            <a:pPr>
              <a:spcAft>
                <a:spcPts val="300"/>
              </a:spcAft>
              <a:defRPr sz="1150">
                <a:solidFill>
                  <a:srgbClr val="0F172A"/>
                </a:solidFill>
                <a:latin typeface="Arial"/>
              </a:defRPr>
            </a:pPr>
            <a:r>
              <a:t>    - BAI_DO_XE (Đối chiếu sức chứa hiện tại)</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trg_KiemTraCheckIn (Throw Exception 50001 / 50002)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#09 — TRIGGER-CHAN-VE-HET-HAN</a:t>
            </a:r>
          </a:p>
          <a:p>
            <a:pPr>
              <a:defRPr sz="2000" b="1">
                <a:solidFill>
                  <a:srgbClr val="0F172A"/>
                </a:solidFill>
                <a:latin typeface="Arial"/>
              </a:defRPr>
            </a:pPr>
            <a:r>
              <a:t>DEMO 09: Trigger Chặn Sử Dụng Vé Tháng Đã Quá Hạn</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Chủ xe quét thẻ tháng đã quá ngày hết hạn để vào bãi. Trigger kiểm tra vé hiện hành của thẻ, phát hiện hết hạn sẽ chặn mở barrier và tự động ROLLBACK giao dịch.</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(Tự động ROLLBACK khi vi phạm)</a:t>
            </a:r>
          </a:p>
          <a:p>
            <a:pPr>
              <a:spcAft>
                <a:spcPts val="300"/>
              </a:spcAft>
              <a:defRPr sz="1150">
                <a:solidFill>
                  <a:srgbClr val="0F172A"/>
                </a:solidFill>
                <a:latin typeface="Arial"/>
              </a:defRPr>
            </a:pPr>
            <a:r>
              <a:t>    - VE_THANG (Đối chiếu ngày hết hạn vé hiện hành)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trg_ChanSuDungVeHetHan + Function f_VeHienHanhCuaThe (Mã lỗi 50003)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#10 — TRIGGER-CHAN-SAI-BAI</a:t>
            </a:r>
          </a:p>
          <a:p>
            <a:pPr>
              <a:defRPr sz="2000" b="1">
                <a:solidFill>
                  <a:srgbClr val="0F172A"/>
                </a:solidFill>
                <a:latin typeface="Arial"/>
              </a:defRPr>
            </a:pPr>
            <a:r>
              <a:t>DEMO 10: Trigger Chặn Vé Tháng Sử Dụng Sai Bãi Áp Dụng</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Chủ xe sử dụng vé tháng đăng ký cố định cho bãi đỗ khác (như Bãi Tân Bình) quẹt thẻ vào Bãi Quận 1. Trigger phát hiện sai bãi sẽ từ chối truy cập (trừ vé toàn chuỗi ALL).</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LUOT_GUI (Ngăn chặn chèn lượt gửi sai bãi)</a:t>
            </a:r>
          </a:p>
          <a:p>
            <a:pPr>
              <a:spcAft>
                <a:spcPts val="300"/>
              </a:spcAft>
              <a:defRPr sz="1150">
                <a:solidFill>
                  <a:srgbClr val="0F172A"/>
                </a:solidFill>
                <a:latin typeface="Arial"/>
              </a:defRPr>
            </a:pPr>
            <a:r>
              <a:t>    - VE_THANG (Kiểm tra trường MaBaiApDung)</a:t>
            </a:r>
          </a:p>
          <a:p>
            <a:pPr>
              <a:spcAft>
                <a:spcPts val="300"/>
              </a:spcAft>
              <a:defRPr sz="1150">
                <a:solidFill>
                  <a:srgbClr val="0F172A"/>
                </a:solidFill>
                <a:latin typeface="Arial"/>
              </a:defRPr>
            </a:pPr>
            <a:r>
              <a:t>    - BAI_DO_XE (So khớp chi nhánh check-in)</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trg_KiemTraBaiApDungVeThang (Mã lỗi 50004)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#11 — FUNCTION-TINH-TIEN-SLOT</a:t>
            </a:r>
          </a:p>
          <a:p>
            <a:pPr>
              <a:defRPr sz="2000" b="1">
                <a:solidFill>
                  <a:srgbClr val="0F172A"/>
                </a:solidFill>
                <a:latin typeface="Arial"/>
              </a:defRPr>
            </a:pPr>
            <a:r>
              <a:rPr dirty="0"/>
              <a:t>DEMO 11: Function </a:t>
            </a:r>
            <a:r>
              <a:rPr dirty="0" err="1"/>
              <a:t>Tính</a:t>
            </a:r>
            <a:r>
              <a:rPr dirty="0"/>
              <a:t> </a:t>
            </a:r>
            <a:r>
              <a:rPr dirty="0" err="1"/>
              <a:t>Phí</a:t>
            </a:r>
            <a:r>
              <a:rPr dirty="0"/>
              <a:t> </a:t>
            </a:r>
            <a:r>
              <a:rPr dirty="0" err="1"/>
              <a:t>Gửi</a:t>
            </a:r>
            <a:r>
              <a:rPr dirty="0"/>
              <a:t> &amp; </a:t>
            </a:r>
            <a:r>
              <a:rPr dirty="0" err="1"/>
              <a:t>Tìm</a:t>
            </a:r>
            <a:r>
              <a:rPr dirty="0"/>
              <a:t> </a:t>
            </a:r>
            <a:r>
              <a:rPr dirty="0" err="1"/>
              <a:t>Ô</a:t>
            </a:r>
            <a:r>
              <a:rPr dirty="0"/>
              <a:t> </a:t>
            </a:r>
            <a:r>
              <a:rPr dirty="0" err="1"/>
              <a:t>Trống</a:t>
            </a:r>
            <a:r>
              <a:rPr lang="en-US" dirty="0"/>
              <a:t> </a:t>
            </a:r>
            <a:r>
              <a:rPr lang="en-US" dirty="0" err="1"/>
              <a:t>Tự</a:t>
            </a:r>
            <a:r>
              <a:rPr lang="en-US" dirty="0"/>
              <a:t> </a:t>
            </a:r>
            <a:r>
              <a:rPr lang="en-US" dirty="0" err="1"/>
              <a:t>Động</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Cung cấp các hàm tính toán linh hoạt: tính tiền gửi xe theo block giờ (miễn phí đỗ &lt;15 phút), tự động định tuyến tìm ô đỗ trống theo loại xe và lấy danh sách xe đang trong bãi.</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LOAI_XE (Đơn giá giờ theo loại xe &amp; bãi)</a:t>
            </a:r>
          </a:p>
          <a:p>
            <a:pPr>
              <a:spcAft>
                <a:spcPts val="300"/>
              </a:spcAft>
              <a:defRPr sz="1150">
                <a:solidFill>
                  <a:srgbClr val="0F172A"/>
                </a:solidFill>
                <a:latin typeface="Arial"/>
              </a:defRPr>
            </a:pPr>
            <a:r>
              <a:t>    - VI_TRI_DO (Danh sách trạng thái ô đỗ)</a:t>
            </a:r>
          </a:p>
          <a:p>
            <a:pPr>
              <a:spcAft>
                <a:spcPts val="300"/>
              </a:spcAft>
              <a:defRPr sz="1150">
                <a:solidFill>
                  <a:srgbClr val="0F172A"/>
                </a:solidFill>
                <a:latin typeface="Arial"/>
              </a:defRPr>
            </a:pPr>
            <a:r>
              <a:t>    - LUOT_GUI (Thời gian gửi thực tế)</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Scalar Function f_TinhTienGuiXe + f_TimSlotTrong + Table-Valued Function f_DanhSachXeTrongBai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#12 — CURSOR-CANH-BAO-DOANH-THU</a:t>
            </a:r>
          </a:p>
          <a:p>
            <a:pPr>
              <a:defRPr sz="2000" b="1">
                <a:solidFill>
                  <a:srgbClr val="0F172A"/>
                </a:solidFill>
                <a:latin typeface="Arial"/>
              </a:defRPr>
            </a:pPr>
            <a:r>
              <a:t>DEMO 12: Cursor Hàng Ngày Cảnh Báo Hạn Vé &amp; Tổng Kết Doanh Thu</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Tự động chạy hàng ngày: duyệt từng vé tháng để chuyển trạng thái vé quá hạn sang 'Hết hạn', gửi thông báo cho vé sắp hết hạn (&lt;= 3 ngày) và tổng hợp báo cáo tài chính chuỗi.</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VE_THANG (Chuyển trạng thái vé hết hạn)</a:t>
            </a:r>
          </a:p>
          <a:p>
            <a:pPr>
              <a:spcAft>
                <a:spcPts val="300"/>
              </a:spcAft>
              <a:defRPr sz="1150">
                <a:solidFill>
                  <a:srgbClr val="0F172A"/>
                </a:solidFill>
                <a:latin typeface="Arial"/>
              </a:defRPr>
            </a:pPr>
            <a:r>
              <a:t>    - THONG_BAO (Ghi nhận thông báo gửi khách)</a:t>
            </a:r>
          </a:p>
          <a:p>
            <a:pPr>
              <a:spcAft>
                <a:spcPts val="300"/>
              </a:spcAft>
              <a:defRPr sz="1150">
                <a:solidFill>
                  <a:srgbClr val="0F172A"/>
                </a:solidFill>
                <a:latin typeface="Arial"/>
              </a:defRPr>
            </a:pPr>
            <a:r>
              <a:t>    - HOA_DON_VE_THANG (Thống kê doanh thu gia hạn)</a:t>
            </a:r>
          </a:p>
          <a:p>
            <a:pPr>
              <a:spcAft>
                <a:spcPts val="300"/>
              </a:spcAft>
              <a:defRPr sz="1150">
                <a:solidFill>
                  <a:srgbClr val="0F172A"/>
                </a:solidFill>
                <a:latin typeface="Arial"/>
              </a:defRPr>
            </a:pPr>
            <a:r>
              <a:t>    - BAI_DO_XE (Thống kê doanh thu theo chi nhánh)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Cursor Procedure sp_DemoCanhBaoHanTheThang &amp; sp_DemoTongKetDoanhThuChuoi</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#13 — KH-DANG-KY-TAI-KHOAN</a:t>
            </a:r>
          </a:p>
          <a:p>
            <a:pPr>
              <a:defRPr sz="2000" b="1">
                <a:solidFill>
                  <a:srgbClr val="0F172A"/>
                </a:solidFill>
                <a:latin typeface="Arial"/>
              </a:defRPr>
            </a:pPr>
            <a:r>
              <a:rPr dirty="0"/>
              <a:t>DEMO 13: </a:t>
            </a:r>
            <a:r>
              <a:rPr dirty="0" err="1"/>
              <a:t>Khách</a:t>
            </a:r>
            <a:r>
              <a:rPr dirty="0"/>
              <a:t> Hàng </a:t>
            </a:r>
            <a:r>
              <a:rPr dirty="0" err="1"/>
              <a:t>Tự</a:t>
            </a:r>
            <a:r>
              <a:rPr dirty="0"/>
              <a:t> Đăng </a:t>
            </a:r>
            <a:r>
              <a:rPr dirty="0" err="1"/>
              <a:t>Ký</a:t>
            </a:r>
            <a:r>
              <a:rPr dirty="0"/>
              <a:t> Tài </a:t>
            </a:r>
            <a:r>
              <a:rPr dirty="0" err="1"/>
              <a:t>Khoản</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hàng tự đăng ký tài khoản online qua SĐT &amp; CCCD trên Cổng khách hàng. Hệ thống khởi tạo tài khoản băm mật khẩu SHA2_512 và mở Ví điện tử 0đ trong 1 Transaction.</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TAI_KHOAN_KH (Tạo tài khoản khách hàng mới)</a:t>
            </a:r>
          </a:p>
          <a:p>
            <a:pPr>
              <a:spcAft>
                <a:spcPts val="300"/>
              </a:spcAft>
              <a:defRPr sz="1150">
                <a:solidFill>
                  <a:srgbClr val="0F172A"/>
                </a:solidFill>
                <a:latin typeface="Arial"/>
              </a:defRPr>
            </a:pPr>
            <a:r>
              <a:t>    - VI_DIEN_TU (Khởi tạo Ví điện tử trả trước 0đ)</a:t>
            </a:r>
          </a:p>
          <a:p>
            <a:pPr>
              <a:spcAft>
                <a:spcPts val="300"/>
              </a:spcAft>
              <a:defRPr sz="1150">
                <a:solidFill>
                  <a:srgbClr val="0F172A"/>
                </a:solidFill>
                <a:latin typeface="Arial"/>
              </a:defRPr>
            </a:pPr>
            <a:r>
              <a:t>    - KHACH_HANG (Xác minh thông tin chủ thể)</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sp_KH_DangKyTaiKhoan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#14 — KH-DANG-NHAP-KHOA-TAI-KHOAN</a:t>
            </a:r>
          </a:p>
          <a:p>
            <a:pPr>
              <a:defRPr sz="2000" b="1">
                <a:solidFill>
                  <a:srgbClr val="0F172A"/>
                </a:solidFill>
                <a:latin typeface="Arial"/>
              </a:defRPr>
            </a:pPr>
            <a:r>
              <a:rPr dirty="0"/>
              <a:t>DEMO 14: </a:t>
            </a:r>
            <a:r>
              <a:rPr dirty="0" err="1"/>
              <a:t>Khóa</a:t>
            </a:r>
            <a:r>
              <a:rPr dirty="0"/>
              <a:t> Tài Khoản Khách </a:t>
            </a:r>
            <a:r>
              <a:rPr lang="en-US" dirty="0"/>
              <a:t>Khi </a:t>
            </a:r>
            <a:r>
              <a:rPr lang="en-US" dirty="0" err="1"/>
              <a:t>Nhập</a:t>
            </a:r>
            <a:r>
              <a:rPr lang="en-US" dirty="0"/>
              <a:t> Sai 5 </a:t>
            </a:r>
            <a:r>
              <a:rPr lang="en-US" dirty="0" err="1"/>
              <a:t>Lần</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Bảo vệ tài khoản khách hàng trước tấn công Brute-force. Nếu nhập sai mật khẩu 5 lần liên tiếp trong 15 phút, tài khoản sẽ tự động bị khóa tạm thời 15 phút.</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TAI_KHOAN_KH (Cập nhật trạng thái 'Khóa tạm thời')</a:t>
            </a:r>
          </a:p>
          <a:p>
            <a:pPr>
              <a:spcAft>
                <a:spcPts val="300"/>
              </a:spcAft>
              <a:defRPr sz="1150">
                <a:solidFill>
                  <a:srgbClr val="0F172A"/>
                </a:solidFill>
                <a:latin typeface="Arial"/>
              </a:defRPr>
            </a:pPr>
            <a:r>
              <a:t>    - NHAT_KY_DANG_NHAP (Lưu vết số lần đăng nhập thất bại)</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sp_KH_DangNhap (Th Throw Error 50041)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533479"/>
          </a:xfrm>
          <a:prstGeom prst="rect">
            <a:avLst/>
          </a:prstGeom>
          <a:noFill/>
        </p:spPr>
        <p:txBody>
          <a:bodyPr wrap="square" lIns="0" tIns="0" rIns="0" bIns="0">
            <a:spAutoFit/>
          </a:bodyPr>
          <a:lstStyle/>
          <a:p>
            <a:pPr>
              <a:spcAft>
                <a:spcPts val="200"/>
              </a:spcAft>
              <a:defRPr sz="1300" b="1">
                <a:solidFill>
                  <a:srgbClr val="0284C7"/>
                </a:solidFill>
                <a:latin typeface="Arial"/>
              </a:defRPr>
            </a:pPr>
            <a:r>
              <a:rPr dirty="0"/>
              <a:t>KỊCH BẢN DEMO #15 — KH-NAP-TIEN-2-PHA</a:t>
            </a:r>
          </a:p>
          <a:p>
            <a:pPr>
              <a:defRPr sz="2000" b="1">
                <a:solidFill>
                  <a:srgbClr val="0F172A"/>
                </a:solidFill>
                <a:latin typeface="Arial"/>
              </a:defRPr>
            </a:pPr>
            <a:r>
              <a:rPr dirty="0"/>
              <a:t>DEMO 15: </a:t>
            </a:r>
            <a:r>
              <a:rPr dirty="0" err="1"/>
              <a:t>Nạp</a:t>
            </a:r>
            <a:r>
              <a:rPr dirty="0"/>
              <a:t> </a:t>
            </a:r>
            <a:r>
              <a:rPr dirty="0" err="1"/>
              <a:t>Tiền</a:t>
            </a:r>
            <a:r>
              <a:rPr dirty="0"/>
              <a:t> </a:t>
            </a:r>
            <a:r>
              <a:rPr dirty="0" err="1"/>
              <a:t>Ví</a:t>
            </a:r>
            <a:r>
              <a:rPr dirty="0"/>
              <a:t> </a:t>
            </a:r>
            <a:r>
              <a:rPr dirty="0" err="1"/>
              <a:t>Điện</a:t>
            </a:r>
            <a:r>
              <a:rPr dirty="0"/>
              <a:t> </a:t>
            </a:r>
            <a:r>
              <a:rPr dirty="0" err="1"/>
              <a:t>Tử</a:t>
            </a:r>
            <a:r>
              <a:rPr dirty="0"/>
              <a:t> 2 Pha </a:t>
            </a:r>
            <a:r>
              <a:rPr dirty="0" err="1"/>
              <a:t>Chống</a:t>
            </a:r>
            <a:r>
              <a:rPr dirty="0"/>
              <a:t> Trùng Lặp </a:t>
            </a:r>
            <a:r>
              <a:rPr lang="en-US" dirty="0"/>
              <a:t>Cộng </a:t>
            </a:r>
            <a:r>
              <a:rPr lang="en-US" dirty="0" err="1"/>
              <a:t>Tiền</a:t>
            </a:r>
            <a:r>
              <a:rPr lang="en-US" dirty="0"/>
              <a:t> 2 </a:t>
            </a:r>
            <a:r>
              <a:rPr lang="en-US" dirty="0" err="1"/>
              <a:t>Lần</a:t>
            </a:r>
            <a:endParaRPr dirty="0"/>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Nạp tiền vào Ví qua cổng thanh toán (MoMo/VNPAY). Pha 1 tạo giao dịch 'Chờ xử lý'. Pha 2 xác nhận callback thành công và cộng tiền ví. Callback gửi lặp không bị cộng tiền 2 lần.</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GIAO_DICH (Ghi nhận trạng thái giao dịch nạp)</a:t>
            </a:r>
          </a:p>
          <a:p>
            <a:pPr>
              <a:spcAft>
                <a:spcPts val="300"/>
              </a:spcAft>
              <a:defRPr sz="1150">
                <a:solidFill>
                  <a:srgbClr val="0F172A"/>
                </a:solidFill>
                <a:latin typeface="Arial"/>
              </a:defRPr>
            </a:pPr>
            <a:r>
              <a:t>    - VI_DIEN_TU (Tự động cộng số dư ví khi thành công)</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sp_KH_NapTien_KhoiTao + sp_KH_NapTien_XacNhan + Trigger trg_GiaoDich_CapNhatSoDu</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#16 — KH-GIA-HAN-BANG-VI</a:t>
            </a:r>
          </a:p>
          <a:p>
            <a:pPr>
              <a:defRPr sz="2000" b="1">
                <a:solidFill>
                  <a:srgbClr val="0F172A"/>
                </a:solidFill>
                <a:latin typeface="Arial"/>
              </a:defRPr>
            </a:pPr>
            <a:r>
              <a:t>DEMO 16: Khách Hàng Tự Gia Hạn Vé Tháng Bằng Ví Điện Tử</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Khách hàng trực tiếp gia hạn vé tháng trên Cổng online bằng số dư Ví điện tử. Hệ thống tự động trừ tiền ví, cộng thêm hạn vé và xuất hóa đơn gia hạn kênh 'Online'.</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VI_DIEN_TU (Trừ số dư ví)</a:t>
            </a:r>
          </a:p>
          <a:p>
            <a:pPr>
              <a:spcAft>
                <a:spcPts val="300"/>
              </a:spcAft>
              <a:defRPr sz="1150">
                <a:solidFill>
                  <a:srgbClr val="0F172A"/>
                </a:solidFill>
                <a:latin typeface="Arial"/>
              </a:defRPr>
            </a:pPr>
            <a:r>
              <a:t>    - VE_THANG (Cộng thêm 30 ngày vào ngày hết hạn)</a:t>
            </a:r>
          </a:p>
          <a:p>
            <a:pPr>
              <a:spcAft>
                <a:spcPts val="300"/>
              </a:spcAft>
              <a:defRPr sz="1150">
                <a:solidFill>
                  <a:srgbClr val="0F172A"/>
                </a:solidFill>
                <a:latin typeface="Arial"/>
              </a:defRPr>
            </a:pPr>
            <a:r>
              <a:t>    - HOA_DON_VE_THANG (Ghi nhận hóa đơn gia hạn online)</a:t>
            </a:r>
          </a:p>
          <a:p>
            <a:pPr>
              <a:spcAft>
                <a:spcPts val="300"/>
              </a:spcAft>
              <a:defRPr sz="1150">
                <a:solidFill>
                  <a:srgbClr val="0F172A"/>
                </a:solidFill>
                <a:latin typeface="Arial"/>
              </a:defRPr>
            </a:pPr>
            <a:r>
              <a:t>    - GIAO_DICH (Lịch sử trừ tiền ví)</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sp_KH_GiaHanBangVi + sp_GiaHanVe_Core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#17 — TRIGGER-CHAN-SO-DU-AM</a:t>
            </a:r>
          </a:p>
          <a:p>
            <a:pPr>
              <a:defRPr sz="2000" b="1">
                <a:solidFill>
                  <a:srgbClr val="0F172A"/>
                </a:solidFill>
                <a:latin typeface="Arial"/>
              </a:defRPr>
            </a:pPr>
            <a:r>
              <a:t>DEMO 17: Trigger Chặn Giao Dịch Làm Âm Số Dư Ví Điện Tử</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Bảo vệ an toàn tài chính tuyệt đối. Ngăn chặn mọi giao dịch gia hạn hoặc rút tiền nếu số dư ví không đủ, đồng thời Trigger chặn mọi lệnh UPDATE trực tiếp làm thay đổi số dư ví.</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VI_DIEN_TU (Bảo vệ trường SoDu luôn &gt;= 0)</a:t>
            </a:r>
          </a:p>
          <a:p>
            <a:pPr>
              <a:spcAft>
                <a:spcPts val="300"/>
              </a:spcAft>
              <a:defRPr sz="1150">
                <a:solidFill>
                  <a:srgbClr val="0F172A"/>
                </a:solidFill>
                <a:latin typeface="Arial"/>
              </a:defRPr>
            </a:pPr>
            <a:r>
              <a:t>    - GIAO_DICH (ROLLBACK nếu giao dịch vi phạm)</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trg_ViDienTu_ChanSuaTrucTiep + Trigger Sổ cái (Mã lỗi 50031)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#18 — RLS-CO-LAP-DU-LIEU-KHACH-HANG</a:t>
            </a:r>
          </a:p>
          <a:p>
            <a:pPr>
              <a:defRPr sz="2000" b="1">
                <a:solidFill>
                  <a:srgbClr val="0F172A"/>
                </a:solidFill>
                <a:latin typeface="Arial"/>
              </a:defRPr>
            </a:pPr>
            <a:r>
              <a:t>DEMO 18: Row-Level Security (RLS) Cô Lập Dữ Liệu Khách Hàng</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Bảo mật cấp CSDL. Đảm bảo mỗi khách hàng khi đăng nhập Cổng online chỉ truy vấn thấy dữ liệu giao dịch và ví của chính mình thông qua chính sách RLS lọc tự động theo SESSION_CONTEXT.</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GIAO_DICH (Áp dụng RLS lọc theo MaKH)</a:t>
            </a:r>
          </a:p>
          <a:p>
            <a:pPr>
              <a:spcAft>
                <a:spcPts val="300"/>
              </a:spcAft>
              <a:defRPr sz="1150">
                <a:solidFill>
                  <a:srgbClr val="0F172A"/>
                </a:solidFill>
                <a:latin typeface="Arial"/>
              </a:defRPr>
            </a:pPr>
            <a:r>
              <a:t>    - VI_DIEN_TU (Áp dụng RLS &amp; DENY bảng gốc)</a:t>
            </a:r>
          </a:p>
          <a:p>
            <a:pPr>
              <a:spcAft>
                <a:spcPts val="300"/>
              </a:spcAft>
              <a:defRPr sz="1150">
                <a:solidFill>
                  <a:srgbClr val="0F172A"/>
                </a:solidFill>
                <a:latin typeface="Arial"/>
              </a:defRPr>
            </a:pPr>
            <a:r>
              <a:t>    - vw_KH_LichSuGiaoDich (View an toàn cho khách)</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Security Policy rls_KhachHang + Predicate Function fn_security_predicate_makh</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#19 — KH-UY-QUYEN-VE</a:t>
            </a:r>
          </a:p>
          <a:p>
            <a:pPr>
              <a:defRPr sz="2000" b="1">
                <a:solidFill>
                  <a:srgbClr val="0F172A"/>
                </a:solidFill>
                <a:latin typeface="Arial"/>
              </a:defRPr>
            </a:pPr>
            <a:r>
              <a:t>DEMO 19: Ủy Quyền &amp; Chia Sẻ Quyền Sử Dụng Vé Tháng</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Chủ vé chia sẻ quyền sử dụng vé tháng cho tối đa 3 người thân. Người được chia sẻ được dùng vé để gửi xe nhưng hệ thống chặn không cho phép thực hiện gia hạn vé.</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UY_QUYEN_VE (Lưu thông tin ủy quyền chia sẻ vé)</a:t>
            </a:r>
          </a:p>
          <a:p>
            <a:pPr>
              <a:spcAft>
                <a:spcPts val="300"/>
              </a:spcAft>
              <a:defRPr sz="1150">
                <a:solidFill>
                  <a:srgbClr val="0F172A"/>
                </a:solidFill>
                <a:latin typeface="Arial"/>
              </a:defRPr>
            </a:pPr>
            <a:r>
              <a:t>    - VE_THANG (Đối chiếu quyền chủ sở hữu)</a:t>
            </a:r>
          </a:p>
          <a:p>
            <a:pPr>
              <a:spcAft>
                <a:spcPts val="300"/>
              </a:spcAft>
              <a:defRPr sz="1150">
                <a:solidFill>
                  <a:srgbClr val="0F172A"/>
                </a:solidFill>
                <a:latin typeface="Arial"/>
              </a:defRPr>
            </a:pPr>
            <a:r>
              <a:t>    - TAI_KHOAN_KH (Tài khoản người nhận ủy quyền)</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Stored Procedure sp_KH_UyQuyenVe + Function f_KH_CoQuyen (Mã lỗi 50050 / 50053)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#20 — CURSOR-TU-DONG-GIA-HAN</a:t>
            </a:r>
          </a:p>
          <a:p>
            <a:pPr>
              <a:defRPr sz="2000" b="1">
                <a:solidFill>
                  <a:srgbClr val="0F172A"/>
                </a:solidFill>
                <a:latin typeface="Arial"/>
              </a:defRPr>
            </a:pPr>
            <a:r>
              <a:t>DEMO 20: Cursor Tự Động Gia Hạn Trong Savepoint Riêng Biệt</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Cursor xử lý các vé đăng ký 'Tự động gia hạn'. Mỗi vé được chạy trong 1 SAVEPOINT riêng biệt: nếu 1 vé thất bại do thiếu tiền ví thì chỉ ROLLBACK vé đó, không làm hủy các vé khác.</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VE_THANG (Gia hạn thời gian hiệu lực)</a:t>
            </a:r>
          </a:p>
          <a:p>
            <a:pPr>
              <a:spcAft>
                <a:spcPts val="300"/>
              </a:spcAft>
              <a:defRPr sz="1150">
                <a:solidFill>
                  <a:srgbClr val="0F172A"/>
                </a:solidFill>
                <a:latin typeface="Arial"/>
              </a:defRPr>
            </a:pPr>
            <a:r>
              <a:t>    - HOA_DON_VE_THANG (Xuất hóa đơn kênh 'Tự động')</a:t>
            </a:r>
          </a:p>
          <a:p>
            <a:pPr>
              <a:spcAft>
                <a:spcPts val="300"/>
              </a:spcAft>
              <a:defRPr sz="1150">
                <a:solidFill>
                  <a:srgbClr val="0F172A"/>
                </a:solidFill>
                <a:latin typeface="Arial"/>
              </a:defRPr>
            </a:pPr>
            <a:r>
              <a:t>    - VI_DIEN_TU (Tự động trừ số dư ví)</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Cursor Procedure sp_DemoCanhBaoHanTheThang (Sử dụng SAVE TRANSACTION)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spcAft>
                <a:spcPts val="200"/>
              </a:spcAft>
              <a:defRPr sz="1300" b="1">
                <a:solidFill>
                  <a:srgbClr val="0284C7"/>
                </a:solidFill>
                <a:latin typeface="Arial"/>
              </a:defRPr>
            </a:pPr>
            <a:r>
              <a:t>KỊCH BẢN DEMO #21 — TRIGGER-SO-CAI-BAT-BIEN</a:t>
            </a:r>
          </a:p>
          <a:p>
            <a:pPr>
              <a:defRPr sz="2000" b="1">
                <a:solidFill>
                  <a:srgbClr val="0F172A"/>
                </a:solidFill>
                <a:latin typeface="Arial"/>
              </a:defRPr>
            </a:pPr>
            <a:r>
              <a:t>DEMO 21: Trigger Bảo Vệ Sổ Cái Tài Chính Bất Biến Append-Only</a:t>
            </a:r>
          </a:p>
        </p:txBody>
      </p:sp>
      <p:sp>
        <p:nvSpPr>
          <p:cNvPr id="3" name="Rounded Rectangle 2"/>
          <p:cNvSpPr/>
          <p:nvPr/>
        </p:nvSpPr>
        <p:spPr>
          <a:xfrm>
            <a:off x="73152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1508760"/>
            <a:ext cx="4723790" cy="4480560"/>
          </a:xfrm>
          <a:prstGeom prst="rect">
            <a:avLst/>
          </a:prstGeom>
          <a:noFill/>
        </p:spPr>
        <p:txBody>
          <a:bodyPr wrap="square" lIns="0" tIns="0" rIns="0" bIns="0">
            <a:spAutoFit/>
          </a:bodyPr>
          <a:lstStyle/>
          <a:p>
            <a:pPr>
              <a:spcAft>
                <a:spcPts val="1000"/>
              </a:spcAft>
              <a:defRPr sz="1500" b="1">
                <a:solidFill>
                  <a:srgbClr val="0284C7"/>
                </a:solidFill>
                <a:latin typeface="Arial"/>
              </a:defRPr>
            </a:pPr>
            <a:r>
              <a:t>🎯 BÀI TOÁN NGHIỆP VỤ</a:t>
            </a:r>
          </a:p>
          <a:p>
            <a:pPr>
              <a:lnSpc>
                <a:spcPct val="125000"/>
              </a:lnSpc>
              <a:defRPr sz="1250">
                <a:solidFill>
                  <a:srgbClr val="0F172A"/>
                </a:solidFill>
                <a:latin typeface="Arial"/>
              </a:defRPr>
            </a:pPr>
            <a:r>
              <a:t>Đảm bảo tính minh bạch kế toán. Mọi giao dịch ghi nhận dạng Append-Only; Trigger chặn vĩnh viễn mọi hành vi sửa tiền (50061), xóa sổ cái (50060) hoặc hoàn tiền khoản đã xuất hóa đơn (50063).</a:t>
            </a:r>
          </a:p>
        </p:txBody>
      </p:sp>
      <p:sp>
        <p:nvSpPr>
          <p:cNvPr id="5" name="Rounded Rectangle 4"/>
          <p:cNvSpPr/>
          <p:nvPr/>
        </p:nvSpPr>
        <p:spPr>
          <a:xfrm>
            <a:off x="6278270" y="1280160"/>
            <a:ext cx="5180990" cy="493776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6870" y="1508760"/>
            <a:ext cx="4723790" cy="4480560"/>
          </a:xfrm>
          <a:prstGeom prst="rect">
            <a:avLst/>
          </a:prstGeom>
          <a:noFill/>
        </p:spPr>
        <p:txBody>
          <a:bodyPr wrap="square" lIns="0" tIns="0" rIns="0" bIns="0">
            <a:spAutoFit/>
          </a:bodyPr>
          <a:lstStyle/>
          <a:p>
            <a:pPr>
              <a:spcAft>
                <a:spcPts val="1000"/>
              </a:spcAft>
              <a:defRPr sz="1400" b="1">
                <a:solidFill>
                  <a:srgbClr val="0F172A"/>
                </a:solidFill>
                <a:latin typeface="Arial"/>
              </a:defRPr>
            </a:pPr>
            <a:r>
              <a:t>🗄️ CÁC BẢNG DỮ LIỆU &amp; ĐỐI TƯỢNG CSDL LIÊN QUAN</a:t>
            </a:r>
          </a:p>
          <a:p>
            <a:pPr>
              <a:spcAft>
                <a:spcPts val="400"/>
              </a:spcAft>
              <a:defRPr sz="1200" b="1">
                <a:solidFill>
                  <a:srgbClr val="0F172A"/>
                </a:solidFill>
                <a:latin typeface="Arial"/>
              </a:defRPr>
            </a:pPr>
            <a:r>
              <a:t>• Các bảng dữ liệu bị ảnh hưởng / truy vấn:</a:t>
            </a:r>
          </a:p>
          <a:p>
            <a:pPr>
              <a:spcAft>
                <a:spcPts val="300"/>
              </a:spcAft>
              <a:defRPr sz="1150">
                <a:solidFill>
                  <a:srgbClr val="0F172A"/>
                </a:solidFill>
                <a:latin typeface="Arial"/>
              </a:defRPr>
            </a:pPr>
            <a:r>
              <a:t>    - GIAO_DICH (Sổ cái kế toán ghi nhận giao dịch)</a:t>
            </a:r>
          </a:p>
          <a:p>
            <a:pPr>
              <a:spcAft>
                <a:spcPts val="300"/>
              </a:spcAft>
              <a:defRPr sz="1150">
                <a:solidFill>
                  <a:srgbClr val="0F172A"/>
                </a:solidFill>
                <a:latin typeface="Arial"/>
              </a:defRPr>
            </a:pPr>
            <a:r>
              <a:t>    - NK_LEDGER_TAI_CHINH (Sổ cái bất biến)</a:t>
            </a:r>
          </a:p>
          <a:p>
            <a:pPr>
              <a:spcAft>
                <a:spcPts val="300"/>
              </a:spcAft>
              <a:defRPr sz="1150">
                <a:solidFill>
                  <a:srgbClr val="0F172A"/>
                </a:solidFill>
                <a:latin typeface="Arial"/>
              </a:defRPr>
            </a:pPr>
            <a:r>
              <a:t>    - VI_DIEN_TU (Đối soát số dư ví)</a:t>
            </a:r>
          </a:p>
          <a:p>
            <a:pPr>
              <a:spcBef>
                <a:spcPts val="800"/>
              </a:spcBef>
              <a:spcAft>
                <a:spcPts val="400"/>
              </a:spcAft>
              <a:defRPr sz="1200" b="1">
                <a:solidFill>
                  <a:srgbClr val="0284C7"/>
                </a:solidFill>
                <a:latin typeface="Arial"/>
              </a:defRPr>
            </a:pPr>
            <a:r>
              <a:t>• Đối tượng T-SQL xử lý cốt lõi:</a:t>
            </a:r>
          </a:p>
          <a:p>
            <a:pPr>
              <a:defRPr sz="1150" b="1">
                <a:solidFill>
                  <a:srgbClr val="0F172A"/>
                </a:solidFill>
                <a:latin typeface="Arial"/>
              </a:defRPr>
            </a:pPr>
            <a:r>
              <a:t>    Trigger trg_GiaoDich_BatBien + Stored Procedure sp_NV_HoanTien (Ghi bút toán đối ứng)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12</TotalTime>
  <Words>3789</Words>
  <Application>Microsoft Macintosh PowerPoint</Application>
  <PresentationFormat>Widescreen</PresentationFormat>
  <Paragraphs>283</Paragraphs>
  <Slides>24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Lê Thanh Tú</cp:lastModifiedBy>
  <cp:revision>7</cp:revision>
  <dcterms:created xsi:type="dcterms:W3CDTF">2013-01-27T09:14:16Z</dcterms:created>
  <dcterms:modified xsi:type="dcterms:W3CDTF">2026-10-12T15:00:25Z</dcterms:modified>
  <cp:category/>
</cp:coreProperties>
</file>